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71" r:id="rId7"/>
    <p:sldId id="264" r:id="rId8"/>
    <p:sldId id="265" r:id="rId9"/>
    <p:sldId id="266" r:id="rId10"/>
    <p:sldId id="267" r:id="rId11"/>
    <p:sldId id="268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442" autoAdjust="0"/>
  </p:normalViewPr>
  <p:slideViewPr>
    <p:cSldViewPr snapToGrid="0" snapToObjects="1">
      <p:cViewPr varScale="1">
        <p:scale>
          <a:sx n="109" d="100"/>
          <a:sy n="109" d="100"/>
        </p:scale>
        <p:origin x="100" y="2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941714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 dirty="0">
                <a:solidFill>
                  <a:srgbClr val="FFFFFF"/>
                </a:solidFill>
              </a:rPr>
              <a:t>Mine</a:t>
            </a:r>
            <a:r>
              <a:rPr lang="en-IN" sz="6000" b="1" i="0" dirty="0">
                <a:solidFill>
                  <a:srgbClr val="FFFFFF"/>
                </a:solidFill>
              </a:rPr>
              <a:t> </a:t>
            </a:r>
            <a:r>
              <a:rPr lang="en-IN" sz="6000" b="1" dirty="0">
                <a:solidFill>
                  <a:srgbClr val="00B4FF"/>
                </a:solidFill>
              </a:rPr>
              <a:t>Guard</a:t>
            </a:r>
          </a:p>
          <a:p>
            <a:pPr algn="l"/>
            <a:endParaRPr sz="6000" b="1" i="0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2960" y="1225760"/>
            <a:ext cx="9144000" cy="45720"/>
          </a:xfrm>
          <a:prstGeom prst="rect">
            <a:avLst/>
          </a:prstGeom>
          <a:solidFill>
            <a:srgbClr val="8E9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362920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8E9EB0"/>
                </a:solidFill>
              </a:rPr>
              <a:t>Satellite-powered ground </a:t>
            </a:r>
            <a:r>
              <a:rPr lang="en-IN" sz="1600" b="0" i="1" dirty="0">
                <a:solidFill>
                  <a:srgbClr val="8E9EB0"/>
                </a:solidFill>
              </a:rPr>
              <a:t>East-West</a:t>
            </a:r>
            <a:r>
              <a:rPr sz="1600" b="0" i="1" dirty="0">
                <a:solidFill>
                  <a:srgbClr val="8E9EB0"/>
                </a:solidFill>
              </a:rPr>
              <a:t> </a:t>
            </a:r>
            <a:r>
              <a:rPr lang="en-IN" sz="1600" b="0" i="1" dirty="0">
                <a:solidFill>
                  <a:srgbClr val="8E9EB0"/>
                </a:solidFill>
              </a:rPr>
              <a:t>movement </a:t>
            </a:r>
            <a:r>
              <a:rPr sz="1600" b="0" i="1" dirty="0">
                <a:solidFill>
                  <a:srgbClr val="8E9EB0"/>
                </a:solidFill>
              </a:rPr>
              <a:t>monitoring — designed for every mine site engineer.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094440"/>
            <a:ext cx="2377440" cy="384048"/>
          </a:xfrm>
          <a:prstGeom prst="rect">
            <a:avLst/>
          </a:prstGeom>
          <a:solidFill>
            <a:srgbClr val="131E35"/>
          </a:solidFill>
          <a:ln w="1016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127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0B4FF"/>
                </a:solidFill>
              </a:rPr>
              <a:t>React + TypeScript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2094440"/>
            <a:ext cx="2377440" cy="384048"/>
          </a:xfrm>
          <a:prstGeom prst="rect">
            <a:avLst/>
          </a:prstGeom>
          <a:solidFill>
            <a:srgbClr val="131E35"/>
          </a:solidFill>
          <a:ln w="1016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79" y="21127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5A623"/>
                </a:solidFill>
              </a:rPr>
              <a:t>Python </a:t>
            </a:r>
            <a:r>
              <a:rPr sz="1600" b="1" i="0" dirty="0" err="1">
                <a:solidFill>
                  <a:srgbClr val="F5A623"/>
                </a:solidFill>
              </a:rPr>
              <a:t>FastAPI</a:t>
            </a:r>
            <a:endParaRPr sz="1600" b="1" i="0" dirty="0">
              <a:solidFill>
                <a:srgbClr val="F5A623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852160" y="2094440"/>
            <a:ext cx="2377440" cy="384048"/>
          </a:xfrm>
          <a:prstGeom prst="rect">
            <a:avLst/>
          </a:prstGeom>
          <a:solidFill>
            <a:srgbClr val="131E35"/>
          </a:solidFill>
          <a:ln w="1016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97880" y="21127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39D353"/>
                </a:solidFill>
              </a:rPr>
              <a:t>SNAP InSAR 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2094440"/>
            <a:ext cx="2377440" cy="384048"/>
          </a:xfrm>
          <a:prstGeom prst="rect">
            <a:avLst/>
          </a:prstGeom>
          <a:solidFill>
            <a:srgbClr val="131E35"/>
          </a:solidFill>
          <a:ln w="1016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21127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0B4FF"/>
                </a:solidFill>
              </a:rPr>
              <a:t>Sentinel-1  ASC+DSC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6068" y="6464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8E9EB0"/>
                </a:solidFill>
              </a:rPr>
              <a:t>Final Project  •  ECE Department  •  NIT Rourkela  •  Ujjwal Rawat (225EC6010)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/>
              <a:t>1 / 11</a:t>
            </a:r>
          </a:p>
        </p:txBody>
      </p:sp>
      <p:pic>
        <p:nvPicPr>
          <p:cNvPr id="19" name="object 4">
            <a:extLst>
              <a:ext uri="{FF2B5EF4-FFF2-40B4-BE49-F238E27FC236}">
                <a16:creationId xmlns:a16="http://schemas.microsoft.com/office/drawing/2014/main" id="{DFDED478-8C26-9A57-2B1E-3F606AAFB79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015" y="2539763"/>
            <a:ext cx="11553094" cy="39067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FF"/>
                </a:solidFill>
              </a:rPr>
              <a:t>PRODUCT SPECIFICATION  › 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is MineGuard?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11338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 err="1">
                <a:solidFill>
                  <a:srgbClr val="B3E5FC"/>
                </a:solidFill>
              </a:rPr>
              <a:t>MineGuard</a:t>
            </a:r>
            <a:r>
              <a:rPr sz="1600" b="0" i="1" dirty="0">
                <a:solidFill>
                  <a:srgbClr val="B3E5FC"/>
                </a:solidFill>
              </a:rPr>
              <a:t> is a full-stack web application that uses free Sentinel-1 satellite radar data to automatically detect and track ground </a:t>
            </a:r>
            <a:r>
              <a:rPr lang="en-IN" sz="1600" b="0" i="1" dirty="0">
                <a:solidFill>
                  <a:srgbClr val="B3E5FC"/>
                </a:solidFill>
              </a:rPr>
              <a:t>horizontal deformation</a:t>
            </a:r>
            <a:r>
              <a:rPr sz="1600" b="0" i="1" dirty="0">
                <a:solidFill>
                  <a:srgbClr val="B3E5FC"/>
                </a:solidFill>
              </a:rPr>
              <a:t> at active mine sites — with no programming or satellite expertise required.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286000"/>
            <a:ext cx="3712463" cy="4297680"/>
          </a:xfrm>
          <a:prstGeom prst="rect">
            <a:avLst/>
          </a:prstGeom>
          <a:solidFill>
            <a:srgbClr val="131E35"/>
          </a:solidFill>
          <a:ln w="1524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2450592"/>
            <a:ext cx="3383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4FF"/>
                </a:solidFill>
              </a:rPr>
              <a:t>  Why It Matters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2999232"/>
            <a:ext cx="3383280" cy="36576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3090672"/>
            <a:ext cx="340156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 dirty="0">
                <a:solidFill>
                  <a:srgbClr val="00B4FF"/>
                </a:solidFill>
              </a:rPr>
              <a:t>▸ Problem  </a:t>
            </a:r>
            <a:r>
              <a:rPr sz="1600" dirty="0">
                <a:solidFill>
                  <a:srgbClr val="FFFFFF"/>
                </a:solidFill>
              </a:rPr>
              <a:t>Mining excavations cause ground to sink and slide — often undetected until too late.</a:t>
            </a: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00B4FF"/>
                </a:solidFill>
              </a:rPr>
              <a:t>▸ Cost  </a:t>
            </a:r>
            <a:r>
              <a:rPr sz="1600" dirty="0">
                <a:solidFill>
                  <a:srgbClr val="FFFFFF"/>
                </a:solidFill>
              </a:rPr>
              <a:t>Traditional ground sensors are expensive, local, and require specialist teams.</a:t>
            </a: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00B4FF"/>
                </a:solidFill>
              </a:rPr>
              <a:t>▸ Gap  </a:t>
            </a:r>
            <a:r>
              <a:rPr sz="1600" dirty="0">
                <a:solidFill>
                  <a:srgbClr val="FFFFFF"/>
                </a:solidFill>
              </a:rPr>
              <a:t>No affordable, automated tool existed for non-technical mine site engineers.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286000"/>
            <a:ext cx="3712463" cy="4297680"/>
          </a:xfrm>
          <a:prstGeom prst="rect">
            <a:avLst/>
          </a:prstGeom>
          <a:solidFill>
            <a:srgbClr val="131E35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7992" y="2450592"/>
            <a:ext cx="3383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5A623"/>
                </a:solidFill>
              </a:rPr>
              <a:t>  What It Uses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7992" y="2999232"/>
            <a:ext cx="338328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3090672"/>
            <a:ext cx="340156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 dirty="0">
                <a:solidFill>
                  <a:srgbClr val="F5A623"/>
                </a:solidFill>
              </a:rPr>
              <a:t>▸ Satellite  </a:t>
            </a:r>
            <a:r>
              <a:rPr sz="1600" dirty="0">
                <a:solidFill>
                  <a:srgbClr val="FFFFFF"/>
                </a:solidFill>
              </a:rPr>
              <a:t>Free Sentinel-1 SAR images from the European Space Agency (ESA) Copernicus </a:t>
            </a:r>
            <a:r>
              <a:rPr sz="1600" dirty="0" err="1">
                <a:solidFill>
                  <a:srgbClr val="FFFFFF"/>
                </a:solidFill>
              </a:rPr>
              <a:t>programme</a:t>
            </a:r>
            <a:r>
              <a:rPr sz="1600" dirty="0">
                <a:solidFill>
                  <a:srgbClr val="FFFFFF"/>
                </a:solidFill>
              </a:rPr>
              <a:t>.</a:t>
            </a: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F5A623"/>
                </a:solidFill>
              </a:rPr>
              <a:t>▸ Engine  </a:t>
            </a:r>
            <a:r>
              <a:rPr sz="1600" dirty="0">
                <a:solidFill>
                  <a:srgbClr val="FFFFFF"/>
                </a:solidFill>
              </a:rPr>
              <a:t>SNAP (Sentinel Application Platform) for professional InSAR interferogram processing.</a:t>
            </a: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F5A623"/>
                </a:solidFill>
              </a:rPr>
              <a:t>▸ Stack  </a:t>
            </a:r>
            <a:r>
              <a:rPr sz="1600" dirty="0">
                <a:solidFill>
                  <a:srgbClr val="FFFFFF"/>
                </a:solidFill>
              </a:rPr>
              <a:t>React TypeScript frontend + Python </a:t>
            </a:r>
            <a:r>
              <a:rPr sz="1600" dirty="0" err="1">
                <a:solidFill>
                  <a:srgbClr val="FFFFFF"/>
                </a:solidFill>
              </a:rPr>
              <a:t>FastAPI</a:t>
            </a:r>
            <a:r>
              <a:rPr sz="1600" dirty="0">
                <a:solidFill>
                  <a:srgbClr val="FFFFFF"/>
                </a:solidFill>
              </a:rPr>
              <a:t> backend — runs entirely in a web browser.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2286000"/>
            <a:ext cx="3712463" cy="4297680"/>
          </a:xfrm>
          <a:prstGeom prst="rect">
            <a:avLst/>
          </a:prstGeom>
          <a:solidFill>
            <a:srgbClr val="131E35"/>
          </a:solidFill>
          <a:ln w="1524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9912" y="2450592"/>
            <a:ext cx="3383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39D353"/>
                </a:solidFill>
              </a:rPr>
              <a:t>  What It Delivers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9912" y="2999232"/>
            <a:ext cx="3383280" cy="36576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9912" y="3090672"/>
            <a:ext cx="340156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 dirty="0">
                <a:solidFill>
                  <a:srgbClr val="39D353"/>
                </a:solidFill>
              </a:rPr>
              <a:t>▸ Output  </a:t>
            </a:r>
            <a:r>
              <a:rPr sz="1600" dirty="0" err="1">
                <a:solidFill>
                  <a:srgbClr val="FFFFFF"/>
                </a:solidFill>
              </a:rPr>
              <a:t>Millimetre</a:t>
            </a:r>
            <a:r>
              <a:rPr sz="1600" dirty="0">
                <a:solidFill>
                  <a:srgbClr val="FFFFFF"/>
                </a:solidFill>
              </a:rPr>
              <a:t>-precision ground displacement measurements at user-selected hotspot locations.</a:t>
            </a: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39D353"/>
                </a:solidFill>
              </a:rPr>
              <a:t>▸ Report  </a:t>
            </a:r>
            <a:r>
              <a:rPr sz="1600" dirty="0">
                <a:solidFill>
                  <a:srgbClr val="FFFFFF"/>
                </a:solidFill>
              </a:rPr>
              <a:t>Automated geotechnical risk assessment: Low / Medium / High / Critical per hotspot.</a:t>
            </a: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39D353"/>
                </a:solidFill>
              </a:rPr>
              <a:t>▸ Access  </a:t>
            </a:r>
            <a:r>
              <a:rPr sz="1600" dirty="0">
                <a:solidFill>
                  <a:srgbClr val="FFFFFF"/>
                </a:solidFill>
              </a:rPr>
              <a:t>Any mine on Earth, any timeframe from 2014–present, zero cost satellite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/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4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4C5E"/>
                </a:solidFill>
              </a:rPr>
              <a:t>PRODUCT DETAIL  ›  THE CORE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Ground Doesn't Just Sink — It Slides.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113385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 dirty="0">
                <a:solidFill>
                  <a:srgbClr val="FF4C5E"/>
                </a:solidFill>
              </a:rPr>
              <a:t>East–West horizontal displacement is the earliest warning signal of mine-slope failure — yet it is invisible to conventional vertical sensors.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011680"/>
            <a:ext cx="5394960" cy="4572000"/>
          </a:xfrm>
          <a:prstGeom prst="rect">
            <a:avLst/>
          </a:prstGeom>
          <a:solidFill>
            <a:srgbClr val="131E35"/>
          </a:solidFill>
          <a:ln w="22860">
            <a:solidFill>
              <a:srgbClr val="FF4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176272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Hidden Hazard  Horizontal sliding precedes vertical collapse.
▸ Late Warning  Depth-only sensors miss early failure signs.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5945" y="2880360"/>
            <a:ext cx="5029200" cy="331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600" b="1" dirty="0">
                <a:solidFill>
                  <a:srgbClr val="FF4C5E"/>
                </a:solidFill>
              </a:rPr>
              <a:t>▸ Hidden Hazard  </a:t>
            </a:r>
            <a:r>
              <a:rPr sz="1600" dirty="0">
                <a:solidFill>
                  <a:srgbClr val="8E9EB0"/>
                </a:solidFill>
              </a:rPr>
              <a:t>Horizontal sliding begins weeks before the ground visibly sinks — giving a false sense of stability on vertical-only monitors.</a:t>
            </a:r>
          </a:p>
          <a:p>
            <a:pPr>
              <a:spcBef>
                <a:spcPts val="700"/>
              </a:spcBef>
            </a:pPr>
            <a:r>
              <a:rPr sz="1600" b="1" dirty="0">
                <a:solidFill>
                  <a:srgbClr val="FF4C5E"/>
                </a:solidFill>
              </a:rPr>
              <a:t>▸ Wrong Metric  </a:t>
            </a:r>
            <a:r>
              <a:rPr sz="1600" dirty="0">
                <a:solidFill>
                  <a:srgbClr val="8E9EB0"/>
                </a:solidFill>
              </a:rPr>
              <a:t>A sensor measuring only depth cannot distinguish whether a mine wall is sliding laterally outward or simply compressing downward.</a:t>
            </a:r>
          </a:p>
          <a:p>
            <a:pPr>
              <a:spcBef>
                <a:spcPts val="700"/>
              </a:spcBef>
            </a:pPr>
            <a:r>
              <a:rPr sz="1600" b="1" dirty="0">
                <a:solidFill>
                  <a:srgbClr val="FF4C5E"/>
                </a:solidFill>
              </a:rPr>
              <a:t>▸ Late Warning  </a:t>
            </a:r>
            <a:r>
              <a:rPr sz="1600" dirty="0">
                <a:solidFill>
                  <a:srgbClr val="8E9EB0"/>
                </a:solidFill>
              </a:rPr>
              <a:t>By the time vertical settlement becomes measurable, the lateral failure has already progressed to a point where intervention is difficult.</a:t>
            </a:r>
          </a:p>
          <a:p>
            <a:pPr>
              <a:spcBef>
                <a:spcPts val="700"/>
              </a:spcBef>
            </a:pPr>
            <a:r>
              <a:rPr sz="1600" b="1" dirty="0">
                <a:solidFill>
                  <a:srgbClr val="FF4C5E"/>
                </a:solidFill>
              </a:rPr>
              <a:t>▸ Industry Gap  </a:t>
            </a:r>
            <a:r>
              <a:rPr sz="1600" dirty="0">
                <a:solidFill>
                  <a:srgbClr val="8E9EB0"/>
                </a:solidFill>
              </a:rPr>
              <a:t>Most traditional InSAR tools report only vertical or line-of-sight displacement, omitting the critical East–West component entirely.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5623560" cy="4572000"/>
          </a:xfrm>
          <a:prstGeom prst="rect">
            <a:avLst/>
          </a:prstGeom>
          <a:solidFill>
            <a:srgbClr val="131E35"/>
          </a:solidFill>
          <a:ln w="2286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176272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True E–W Measurement  Isolates pure lateral drift.
▸ Early Intervention  Provides months of advance warning.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80360"/>
            <a:ext cx="5212080" cy="3562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600" b="1" dirty="0">
                <a:solidFill>
                  <a:srgbClr val="00B4FF"/>
                </a:solidFill>
              </a:rPr>
              <a:t>▸ True E–W Measurement  </a:t>
            </a:r>
            <a:r>
              <a:rPr sz="1600" dirty="0">
                <a:solidFill>
                  <a:srgbClr val="FFFFFF"/>
                </a:solidFill>
              </a:rPr>
              <a:t>Combines Ascending and Descending satellite passes to mathematically isolate the pure East–West component of ground movement.</a:t>
            </a:r>
          </a:p>
          <a:p>
            <a:pPr>
              <a:spcBef>
                <a:spcPts val="700"/>
              </a:spcBef>
            </a:pPr>
            <a:r>
              <a:rPr sz="1600" b="1" dirty="0">
                <a:solidFill>
                  <a:srgbClr val="00B4FF"/>
                </a:solidFill>
              </a:rPr>
              <a:t>▸ mm-Level Precision  </a:t>
            </a:r>
            <a:r>
              <a:rPr sz="1600" dirty="0">
                <a:solidFill>
                  <a:srgbClr val="FFFFFF"/>
                </a:solidFill>
              </a:rPr>
              <a:t>Sentinel-1 C-band radar resolves displacements as small as 1–3 mm, detecting lateral shifts months before they become dangerous.</a:t>
            </a:r>
          </a:p>
          <a:p>
            <a:pPr>
              <a:spcBef>
                <a:spcPts val="700"/>
              </a:spcBef>
            </a:pPr>
            <a:r>
              <a:rPr sz="1600" b="1" dirty="0">
                <a:solidFill>
                  <a:srgbClr val="00B4FF"/>
                </a:solidFill>
              </a:rPr>
              <a:t>▸ Early Intervention  </a:t>
            </a:r>
            <a:r>
              <a:rPr sz="1600" dirty="0">
                <a:solidFill>
                  <a:srgbClr val="FFFFFF"/>
                </a:solidFill>
              </a:rPr>
              <a:t>Knowing the direction of movement allows geotechnical teams to install targeted support structures before a critical failure event.</a:t>
            </a:r>
          </a:p>
          <a:p>
            <a:pPr>
              <a:spcBef>
                <a:spcPts val="700"/>
              </a:spcBef>
            </a:pPr>
            <a:r>
              <a:rPr sz="1600" b="1" dirty="0">
                <a:solidFill>
                  <a:srgbClr val="00B4FF"/>
                </a:solidFill>
              </a:rPr>
              <a:t>▸ Proven Science  </a:t>
            </a:r>
            <a:r>
              <a:rPr sz="1600" dirty="0">
                <a:solidFill>
                  <a:srgbClr val="FFFFFF"/>
                </a:solidFill>
              </a:rPr>
              <a:t>2D ASC+DSC InSAR decomposition is the standard method used in professional mine subsidence monitoring worldwide (e.g., Anglo American, BHP site surveys).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/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PRODUCT DETAIL  ›  3D VISUALISATION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FFFFFF"/>
                </a:solidFill>
              </a:rPr>
              <a:t>Displacement Mapped into 3D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 err="1">
                <a:solidFill>
                  <a:srgbClr val="8E9EB0"/>
                </a:solidFill>
              </a:rPr>
              <a:t>MineGuard</a:t>
            </a:r>
            <a:r>
              <a:rPr sz="1600" b="0" i="1" dirty="0">
                <a:solidFill>
                  <a:srgbClr val="8E9EB0"/>
                </a:solidFill>
              </a:rPr>
              <a:t> plots every hotspot's complete deformation history on three orthogonal axes — so engineers can see exactly how, where, and when each point is moving.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011680"/>
            <a:ext cx="11365992" cy="1371600"/>
          </a:xfrm>
          <a:prstGeom prst="rect">
            <a:avLst/>
          </a:prstGeom>
          <a:solidFill>
            <a:srgbClr val="131E35"/>
          </a:solidFill>
          <a:ln w="1524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2011680"/>
            <a:ext cx="201168" cy="13716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0312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0B4FF"/>
                </a:solidFill>
              </a:rPr>
              <a:t>X  —  HORIZONTAL (East ↔ West)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14600"/>
            <a:ext cx="8686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</a:rPr>
              <a:t>Measures true East–West ground displacement in </a:t>
            </a:r>
            <a:r>
              <a:rPr sz="1600" b="0" i="0" dirty="0" err="1">
                <a:solidFill>
                  <a:srgbClr val="FFFFFF"/>
                </a:solidFill>
              </a:rPr>
              <a:t>millimetres</a:t>
            </a:r>
            <a:r>
              <a:rPr sz="1600" b="0" i="0" dirty="0">
                <a:solidFill>
                  <a:srgbClr val="FFFFFF"/>
                </a:solidFill>
              </a:rPr>
              <a:t> per epoch.  |  Positive (+) means the ground moved Eastward. Negative (−) means Westward sliding.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452" y="3041496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8E9EB0"/>
                </a:solidFill>
              </a:rPr>
              <a:t>↳ Example: P2 drifted −283 mm westward by 2021 — the strongest lateral movement on site.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520440"/>
            <a:ext cx="11365992" cy="1371600"/>
          </a:xfrm>
          <a:prstGeom prst="rect">
            <a:avLst/>
          </a:prstGeom>
          <a:solidFill>
            <a:srgbClr val="131E35"/>
          </a:solidFill>
          <a:ln w="1524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3520440"/>
            <a:ext cx="201168" cy="13716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361188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D353"/>
                </a:solidFill>
              </a:rPr>
              <a:t>Y  —  VERTICAL (Subsidence)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023360"/>
            <a:ext cx="8686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</a:rPr>
              <a:t>Measures true vertical ground settlement in </a:t>
            </a:r>
            <a:r>
              <a:rPr sz="1600" b="0" i="0" dirty="0" err="1">
                <a:solidFill>
                  <a:srgbClr val="FFFFFF"/>
                </a:solidFill>
              </a:rPr>
              <a:t>millimetres</a:t>
            </a:r>
            <a:r>
              <a:rPr sz="1600" b="0" i="0" dirty="0">
                <a:solidFill>
                  <a:srgbClr val="FFFFFF"/>
                </a:solidFill>
              </a:rPr>
              <a:t> (downward is negative).  |  Derived from the same ASC+DSC decomposition as horizontal — both axes share one calculation.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673" y="4541338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8E9EB0"/>
                </a:solidFill>
              </a:rPr>
              <a:t>↳ Example: P1 settled −159 mm vertically over 4 years — moderate but steady subsidence.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5029200"/>
            <a:ext cx="11365992" cy="1371600"/>
          </a:xfrm>
          <a:prstGeom prst="rect">
            <a:avLst/>
          </a:prstGeom>
          <a:solidFill>
            <a:srgbClr val="131E35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5029200"/>
            <a:ext cx="201168" cy="1371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512064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Z  —  TIME  (Year Axis)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532120"/>
            <a:ext cx="8686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</a:rPr>
              <a:t>The temporal axis converts calendar dates to decimal years (e.g., June 2018 = 2018.42).  |  Time is shown continuously so acceleration or deceleration of movement is immediately visible.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452" y="6035932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8E9EB0"/>
                </a:solidFill>
              </a:rPr>
              <a:t>↳ Example: P5 was stable until 2018 then showed a sudden −210 mm lateral event in one epoch.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446520"/>
            <a:ext cx="11365992" cy="256032"/>
          </a:xfrm>
          <a:prstGeom prst="rect">
            <a:avLst/>
          </a:prstGeom>
          <a:solidFill>
            <a:srgbClr val="13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/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FF"/>
                </a:solidFill>
              </a:rPr>
              <a:t>PRODUCT DETAIL  ›  HOW WE MEASURE HORIZONTAL DISPLACEMENT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Two Satellite Passes. One Precise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11338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8E9EB0"/>
                </a:solidFill>
              </a:rPr>
              <a:t>A single satellite pass measures ground movement only along its line-of-sight — a mixture of horizontal and vertical. Two opposite-direction passes let us mathematically separate both components.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103120"/>
            <a:ext cx="4297680" cy="4480560"/>
          </a:xfrm>
          <a:prstGeom prst="rect">
            <a:avLst/>
          </a:prstGeom>
          <a:solidFill>
            <a:srgbClr val="131E35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267712"/>
            <a:ext cx="3931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B4FF"/>
                </a:solidFill>
              </a:rPr>
              <a:t>  Ascending Pass (ASC)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16352"/>
            <a:ext cx="3931920" cy="2331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600" b="1" dirty="0">
                <a:solidFill>
                  <a:srgbClr val="00B4FF"/>
                </a:solidFill>
              </a:rPr>
              <a:t>▸ Direction  </a:t>
            </a:r>
            <a:r>
              <a:rPr sz="1600" dirty="0">
                <a:solidFill>
                  <a:srgbClr val="FFFFFF"/>
                </a:solidFill>
              </a:rPr>
              <a:t>Satellite flies Northward along an inclined orbit track.</a:t>
            </a:r>
          </a:p>
          <a:p>
            <a:pPr>
              <a:spcBef>
                <a:spcPts val="700"/>
              </a:spcBef>
            </a:pPr>
            <a:r>
              <a:rPr sz="1600" b="1" dirty="0">
                <a:solidFill>
                  <a:srgbClr val="00B4FF"/>
                </a:solidFill>
              </a:rPr>
              <a:t>▸ Look angle  </a:t>
            </a:r>
            <a:r>
              <a:rPr sz="1600" dirty="0">
                <a:solidFill>
                  <a:srgbClr val="FFFFFF"/>
                </a:solidFill>
              </a:rPr>
              <a:t>Radar beam points East toward ground, ~40° from vertical.</a:t>
            </a:r>
          </a:p>
          <a:p>
            <a:pPr>
              <a:spcBef>
                <a:spcPts val="700"/>
              </a:spcBef>
            </a:pPr>
            <a:r>
              <a:rPr sz="1600" b="1" dirty="0">
                <a:solidFill>
                  <a:srgbClr val="00B4FF"/>
                </a:solidFill>
              </a:rPr>
              <a:t>▸ Measures  </a:t>
            </a:r>
            <a:r>
              <a:rPr sz="1600" dirty="0">
                <a:solidFill>
                  <a:srgbClr val="FFFFFF"/>
                </a:solidFill>
              </a:rPr>
              <a:t>LOS displacement = blend of eastward shift + vertical settlement.</a:t>
            </a:r>
          </a:p>
          <a:p>
            <a:pPr>
              <a:spcBef>
                <a:spcPts val="700"/>
              </a:spcBef>
            </a:pPr>
            <a:r>
              <a:rPr sz="1600" b="1" dirty="0">
                <a:solidFill>
                  <a:srgbClr val="00B4FF"/>
                </a:solidFill>
              </a:rPr>
              <a:t>▸ Coverage  </a:t>
            </a:r>
            <a:r>
              <a:rPr sz="1600" dirty="0">
                <a:solidFill>
                  <a:srgbClr val="FFFFFF"/>
                </a:solidFill>
              </a:rPr>
              <a:t>Four ASC interferometric pairs acquired over 2017–2021.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2103120"/>
            <a:ext cx="4297680" cy="4480560"/>
          </a:xfrm>
          <a:prstGeom prst="rect">
            <a:avLst/>
          </a:prstGeom>
          <a:solidFill>
            <a:srgbClr val="131E35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0" y="2267712"/>
            <a:ext cx="3931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5A623"/>
                </a:solidFill>
              </a:rPr>
              <a:t>Descending Pass (DSC)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816352"/>
            <a:ext cx="3931920" cy="2331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600" b="1">
                <a:solidFill>
                  <a:srgbClr val="F5A623"/>
                </a:solidFill>
              </a:rPr>
              <a:t>▸ Direction  </a:t>
            </a:r>
            <a:r>
              <a:rPr sz="1600">
                <a:solidFill>
                  <a:srgbClr val="FFFFFF"/>
                </a:solidFill>
              </a:rPr>
              <a:t>Satellite flies Southward — the opposite track to ASC.</a:t>
            </a:r>
          </a:p>
          <a:p>
            <a:pPr>
              <a:spcBef>
                <a:spcPts val="700"/>
              </a:spcBef>
            </a:pPr>
            <a:r>
              <a:rPr sz="1600" b="1">
                <a:solidFill>
                  <a:srgbClr val="F5A623"/>
                </a:solidFill>
              </a:rPr>
              <a:t>▸ Look angle  </a:t>
            </a:r>
            <a:r>
              <a:rPr sz="1600">
                <a:solidFill>
                  <a:srgbClr val="FFFFFF"/>
                </a:solidFill>
              </a:rPr>
              <a:t>Radar beam points West toward ground, ~35° from vertical.</a:t>
            </a:r>
          </a:p>
          <a:p>
            <a:pPr>
              <a:spcBef>
                <a:spcPts val="700"/>
              </a:spcBef>
            </a:pPr>
            <a:r>
              <a:rPr sz="1600" b="1">
                <a:solidFill>
                  <a:srgbClr val="F5A623"/>
                </a:solidFill>
              </a:rPr>
              <a:t>▸ Measures  </a:t>
            </a:r>
            <a:r>
              <a:rPr sz="1600">
                <a:solidFill>
                  <a:srgbClr val="FFFFFF"/>
                </a:solidFill>
              </a:rPr>
              <a:t>LOS displacement from the opposite side — the other equation.</a:t>
            </a:r>
          </a:p>
          <a:p>
            <a:pPr>
              <a:spcBef>
                <a:spcPts val="700"/>
              </a:spcBef>
            </a:pPr>
            <a:r>
              <a:rPr sz="1600" b="1">
                <a:solidFill>
                  <a:srgbClr val="F5A623"/>
                </a:solidFill>
              </a:rPr>
              <a:t>▸ Coverage  </a:t>
            </a:r>
            <a:r>
              <a:rPr sz="1600">
                <a:solidFill>
                  <a:srgbClr val="FFFFFF"/>
                </a:solidFill>
              </a:rPr>
              <a:t>Four DSC interferometric pairs matched within ≤12 days of ASC.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0" y="2103120"/>
            <a:ext cx="2084831" cy="4480560"/>
          </a:xfrm>
          <a:prstGeom prst="rect">
            <a:avLst/>
          </a:prstGeom>
          <a:solidFill>
            <a:srgbClr val="131E35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21240" y="2304288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39D353"/>
                </a:solidFill>
              </a:rPr>
              <a:t>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2834640"/>
            <a:ext cx="1828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39D353"/>
                </a:solidFill>
              </a:rPr>
              <a:t>ASC
+
DSC
↓
True E/W
&amp;
Vertical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614219"/>
            <a:ext cx="11338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8E9EB0"/>
                </a:solidFill>
              </a:rPr>
              <a:t>Formula: </a:t>
            </a:r>
            <a:r>
              <a:rPr sz="1400" b="0" i="1" dirty="0" err="1">
                <a:solidFill>
                  <a:srgbClr val="8E9EB0"/>
                </a:solidFill>
              </a:rPr>
              <a:t>d_LOS</a:t>
            </a:r>
            <a:r>
              <a:rPr sz="1400" b="0" i="1" dirty="0">
                <a:solidFill>
                  <a:srgbClr val="8E9EB0"/>
                </a:solidFill>
              </a:rPr>
              <a:t> = −sin(θ)·cos(α)·</a:t>
            </a:r>
            <a:r>
              <a:rPr sz="1400" b="0" i="1" dirty="0" err="1">
                <a:solidFill>
                  <a:srgbClr val="8E9EB0"/>
                </a:solidFill>
              </a:rPr>
              <a:t>d_E</a:t>
            </a:r>
            <a:r>
              <a:rPr sz="1400" b="0" i="1" dirty="0">
                <a:solidFill>
                  <a:srgbClr val="8E9EB0"/>
                </a:solidFill>
              </a:rPr>
              <a:t> + cos(θ)·</a:t>
            </a:r>
            <a:r>
              <a:rPr sz="1400" b="0" i="1" dirty="0" err="1">
                <a:solidFill>
                  <a:srgbClr val="8E9EB0"/>
                </a:solidFill>
              </a:rPr>
              <a:t>d_U</a:t>
            </a:r>
            <a:r>
              <a:rPr sz="1400" b="0" i="1" dirty="0">
                <a:solidFill>
                  <a:srgbClr val="8E9EB0"/>
                </a:solidFill>
              </a:rPr>
              <a:t>  — solved simultaneously for ASC &amp; DSC using Cramer's Rule.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/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WORK DONE  › 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 </a:t>
            </a:r>
            <a:r>
              <a:rPr kumimoji="0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MineGuard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Processes Satellite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11338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srgbClr val="8E9E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Five sequential processing stages transform raw radar images into </a:t>
            </a:r>
            <a:r>
              <a:rPr kumimoji="0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8E9E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millimetre</a:t>
            </a: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srgbClr val="8E9E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-precision ground displacement measurements and an automated risk report.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6424" y="1847088"/>
            <a:ext cx="2286000" cy="4800600"/>
          </a:xfrm>
          <a:prstGeom prst="rect">
            <a:avLst/>
          </a:prstGeom>
          <a:solidFill>
            <a:srgbClr val="131E35"/>
          </a:solidFill>
          <a:ln w="1524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06424" y="1847088"/>
            <a:ext cx="2286000" cy="43891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97864" y="1883664"/>
            <a:ext cx="2139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Stage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7864" y="2359152"/>
            <a:ext cx="2103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B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Acquisition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7864" y="2999232"/>
            <a:ext cx="2121408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0B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Source 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Free Sentinel-1 C-band SAR images retrieved from the ESA Copernicus Data Space Ecosystem (CDSE) via the OData REST API.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0B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Selection 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Both Ascending (ASC) and Descending (DSC) orbit passes are queried for the user-defined ROI, timeframe, and IW-SLC product type.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0B4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Pairs 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Images are automatically matched into interferometric pairs within a ≤12-day temporal baseline to maintain coherence.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51176" y="3977639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E9E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38728" y="1847088"/>
            <a:ext cx="2286000" cy="4800600"/>
          </a:xfrm>
          <a:prstGeom prst="rect">
            <a:avLst/>
          </a:prstGeom>
          <a:solidFill>
            <a:srgbClr val="131E35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538728" y="1847088"/>
            <a:ext cx="2286000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30168" y="1883664"/>
            <a:ext cx="2139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Stage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359152"/>
            <a:ext cx="2103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InSAR Pre-Processing (SNAP)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999232"/>
            <a:ext cx="2121408" cy="3493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Co-registration 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Master and slave SLC images are precisely aligned at sub-pixel accuracy using a cross-correlation-based co-registration graph in ESA SNAP.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Interferogram 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Phase difference between the two acquisitions is computed; flat-earth and topographic phase are removed using a DEM.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Filtering + Unwrapping 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Goldstein adaptive phase filter reduces noise; Snaphu phase unwrapping converts wrapped phase (−π to π) to absolute phase.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79" y="3977639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E9E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71032" y="1847088"/>
            <a:ext cx="2286000" cy="4800600"/>
          </a:xfrm>
          <a:prstGeom prst="rect">
            <a:avLst/>
          </a:prstGeom>
          <a:solidFill>
            <a:srgbClr val="131E35"/>
          </a:solidFill>
          <a:ln w="1524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971032" y="1847088"/>
            <a:ext cx="2286000" cy="43891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44184" y="1883664"/>
            <a:ext cx="2139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Stage 0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62472" y="2359152"/>
            <a:ext cx="2103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FF4C5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2D ASC+DSC Decomposition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2472" y="2999232"/>
            <a:ext cx="2121408" cy="3359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4C5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System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One ASC LOS and one matched DSC LOS measurement form a 2×2 linear system: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d_LOS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−sin(θ)cos(α)·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d_E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+ cos(θ)·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d_U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4C5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Solution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system is solved analytically using Cramer's Rule to yield true East–West (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d_E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and true Vertical (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d_U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displacement per epoch.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4C5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Output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Cumulative E/W and Vertical time-series are computed by summing incremental epoch values from the start of the monitoring period.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5783" y="3977639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E9E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03336" y="1847088"/>
            <a:ext cx="2286000" cy="4800600"/>
          </a:xfrm>
          <a:prstGeom prst="rect">
            <a:avLst/>
          </a:prstGeom>
          <a:solidFill>
            <a:srgbClr val="131E35"/>
          </a:solidFill>
          <a:ln w="15240">
            <a:solidFill>
              <a:srgbClr val="FF4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403336" y="1847088"/>
            <a:ext cx="2286000" cy="438912"/>
          </a:xfrm>
          <a:prstGeom prst="rect">
            <a:avLst/>
          </a:prstGeom>
          <a:solidFill>
            <a:srgbClr val="FF4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476488" y="1883664"/>
            <a:ext cx="2139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Stage 0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94776" y="2359152"/>
            <a:ext cx="2103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B3E5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Risk Classification &amp; Reporting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B3E5F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94776" y="2999232"/>
            <a:ext cx="2121408" cy="3359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B3E5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Thresholds 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Cumulative displacement is compared against geotechnical severity bands: LOW &lt; 30 mm | MEDIUM &lt; 80 mm | HIGH &lt; 150 mm | CRITICAL ≥ 150 mm.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B3E5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Report 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 automated natural-language executive summary and colour-coded risk table are generated per hotspot without manual intervention.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B3E5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▸ Actions 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Engineering recommendations (e.g., install inclinometers, evacuate zone) are ranked and output in order of severity.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848088" y="3977639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E9E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8E9E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FF"/>
                </a:solidFill>
              </a:rPr>
              <a:t>WORK DONE  ›  PAGE 1 &amp; PAGE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3891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Step 1: Find Your Mine   |   Step 2: Define the Zone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70432"/>
            <a:ext cx="11521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8E9EB0"/>
                </a:solidFill>
              </a:rPr>
              <a:t>The first two pages establish where and what to monitor — transforming a mine name into precise geographical coordinates.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719071"/>
            <a:ext cx="5669280" cy="4203205"/>
          </a:xfrm>
          <a:prstGeom prst="rect">
            <a:avLst/>
          </a:prstGeom>
          <a:solidFill>
            <a:srgbClr val="060D17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93192" y="1792224"/>
            <a:ext cx="5522976" cy="2761488"/>
          </a:xfrm>
          <a:prstGeom prst="rect">
            <a:avLst/>
          </a:prstGeom>
          <a:solidFill>
            <a:srgbClr val="060D17"/>
          </a:solidFill>
          <a:ln w="5080">
            <a:solidFill>
              <a:srgbClr val="8E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5958852"/>
            <a:ext cx="5669280" cy="34747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5986284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PAGE 1  —  Search Mine  (Entry Point)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6342900"/>
            <a:ext cx="5669280" cy="415462"/>
          </a:xfrm>
          <a:prstGeom prst="rect">
            <a:avLst/>
          </a:prstGeom>
          <a:solidFill>
            <a:srgbClr val="131E35"/>
          </a:solidFill>
          <a:ln w="889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388620"/>
            <a:ext cx="5486400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▸ Real-time OpenStreetMap geocoding converts mine name to GPS coordinates in seconds.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1719072"/>
            <a:ext cx="5650992" cy="4203204"/>
          </a:xfrm>
          <a:prstGeom prst="rect">
            <a:avLst/>
          </a:prstGeom>
          <a:solidFill>
            <a:srgbClr val="060D17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792224"/>
            <a:ext cx="5504688" cy="2687872"/>
          </a:xfrm>
          <a:prstGeom prst="rect">
            <a:avLst/>
          </a:prstGeom>
          <a:solidFill>
            <a:srgbClr val="060D17"/>
          </a:solidFill>
          <a:ln w="5080">
            <a:solidFill>
              <a:srgbClr val="8E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36208" y="5970572"/>
            <a:ext cx="5650992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5998004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PAGE 2  —  Crop / Region of Interest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6354620"/>
            <a:ext cx="5650992" cy="421325"/>
          </a:xfrm>
          <a:prstGeom prst="rect">
            <a:avLst/>
          </a:prstGeom>
          <a:solidFill>
            <a:srgbClr val="131E35"/>
          </a:solidFill>
          <a:ln w="889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6359306"/>
            <a:ext cx="54864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0" dirty="0">
                <a:solidFill>
                  <a:srgbClr val="FFFFFF"/>
                </a:solidFill>
              </a:rPr>
              <a:t>▸ Interactive map bound-box defines precise ROI, drastically reducing unnecessary data downloads.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/>
              <a:t>7 / 11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1C98B38-DF77-D9EB-00E4-B65273052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82" y="1719072"/>
            <a:ext cx="5663237" cy="420320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D8C7A8C-F15B-716B-394B-1BB765775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719071"/>
            <a:ext cx="5632577" cy="42032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WORK DONE  ›  PAGE 3 &amp; PAGE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3891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Step 3: Set the Timeframe   |   Step 4: Retrieve Satellite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70432"/>
            <a:ext cx="11521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8E9EB0"/>
                </a:solidFill>
              </a:rPr>
              <a:t>These two pages configure the temporal scope of the analysis and automatically retrieve multi-gigabyte satellite datasets from ESA.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719072"/>
            <a:ext cx="5669280" cy="4156298"/>
          </a:xfrm>
          <a:prstGeom prst="rect">
            <a:avLst/>
          </a:prstGeom>
          <a:solidFill>
            <a:srgbClr val="060D17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93192" y="1792224"/>
            <a:ext cx="5522976" cy="2761488"/>
          </a:xfrm>
          <a:prstGeom prst="rect">
            <a:avLst/>
          </a:prstGeom>
          <a:solidFill>
            <a:srgbClr val="060D17"/>
          </a:solidFill>
          <a:ln w="5080">
            <a:solidFill>
              <a:srgbClr val="8E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88920" y="267004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E9EB0"/>
                </a:solidFill>
              </a:rPr>
              <a:t>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3218687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1">
                <a:solidFill>
                  <a:srgbClr val="00B4FF"/>
                </a:solidFill>
              </a:rPr>
              <a:t>Page 3 — Timeline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3611879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E9EB0"/>
                </a:solidFill>
              </a:rPr>
              <a:t>Insert screenshot 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5911946"/>
            <a:ext cx="5669280" cy="34747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5939378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PAGE 3  —  Timeline Configuration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6295994"/>
            <a:ext cx="5669280" cy="470566"/>
          </a:xfrm>
          <a:prstGeom prst="rect">
            <a:avLst/>
          </a:prstGeom>
          <a:solidFill>
            <a:srgbClr val="131E35"/>
          </a:solidFill>
          <a:ln w="889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341714"/>
            <a:ext cx="54864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▸ Users define start/end years and frequency. App provides instant data size estimator.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1719071"/>
            <a:ext cx="5650992" cy="4156297"/>
          </a:xfrm>
          <a:prstGeom prst="rect">
            <a:avLst/>
          </a:prstGeom>
          <a:solidFill>
            <a:srgbClr val="060D17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792224"/>
            <a:ext cx="5504688" cy="2761488"/>
          </a:xfrm>
          <a:prstGeom prst="rect">
            <a:avLst/>
          </a:prstGeom>
          <a:solidFill>
            <a:srgbClr val="060D17"/>
          </a:solidFill>
          <a:ln w="5080">
            <a:solidFill>
              <a:srgbClr val="8E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95944" y="267004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E9EB0"/>
                </a:solidFill>
              </a:rPr>
              <a:t>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3218687"/>
            <a:ext cx="5468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1">
                <a:solidFill>
                  <a:srgbClr val="39D353"/>
                </a:solidFill>
              </a:rPr>
              <a:t>Page 4 — Data Download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3611879"/>
            <a:ext cx="5468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E9EB0"/>
                </a:solidFill>
              </a:rPr>
              <a:t>Insert screenshot here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5911946"/>
            <a:ext cx="5650992" cy="34747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5939378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PAGE 4  —  Sentinel-1 Data Download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6295994"/>
            <a:ext cx="5650992" cy="470566"/>
          </a:xfrm>
          <a:prstGeom prst="rect">
            <a:avLst/>
          </a:prstGeom>
          <a:solidFill>
            <a:srgbClr val="131E35"/>
          </a:solidFill>
          <a:ln w="889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6341714"/>
            <a:ext cx="54864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▸ Automated background downloading from ESA Copernicus API with full file integrity checks.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/>
              <a:t>8 / 11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4A3D46C-94F5-CEB3-1502-76C10B8E4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86" y="1719072"/>
            <a:ext cx="5659434" cy="415629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4024FAA-62AF-BA3A-CD9A-5DA2DA956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727148"/>
            <a:ext cx="5632577" cy="41482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9D353"/>
                </a:solidFill>
              </a:rPr>
              <a:t>WORK DONE  ›  PAGE 5 &amp; PAGE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3891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Step 5: Process InSAR   |   Step 6: Select Hotspots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70432"/>
            <a:ext cx="11521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8E9EB0"/>
                </a:solidFill>
              </a:rPr>
              <a:t>The most technically intensive stage — generating interferograms with SNAP — and then targeting the specific danger zones to monitor.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719071"/>
            <a:ext cx="5669280" cy="4273545"/>
          </a:xfrm>
          <a:prstGeom prst="rect">
            <a:avLst/>
          </a:prstGeom>
          <a:solidFill>
            <a:srgbClr val="060D17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93192" y="1792224"/>
            <a:ext cx="5522976" cy="2761488"/>
          </a:xfrm>
          <a:prstGeom prst="rect">
            <a:avLst/>
          </a:prstGeom>
          <a:solidFill>
            <a:srgbClr val="060D17"/>
          </a:solidFill>
          <a:ln w="5080">
            <a:solidFill>
              <a:srgbClr val="8E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6029192"/>
            <a:ext cx="56692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6056624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PAGE 5  —  SNAP InSAR Processing 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6413240"/>
            <a:ext cx="5669280" cy="347472"/>
          </a:xfrm>
          <a:prstGeom prst="rect">
            <a:avLst/>
          </a:prstGeom>
          <a:solidFill>
            <a:srgbClr val="131E35"/>
          </a:solidFill>
          <a:ln w="889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458960"/>
            <a:ext cx="54864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▸ Live dashboard orchestrates SNAP InSAR processing with smart queueing and skip-logic.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1719072"/>
            <a:ext cx="5650992" cy="4273544"/>
          </a:xfrm>
          <a:prstGeom prst="rect">
            <a:avLst/>
          </a:prstGeom>
          <a:solidFill>
            <a:srgbClr val="060D17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792224"/>
            <a:ext cx="5504688" cy="2761488"/>
          </a:xfrm>
          <a:prstGeom prst="rect">
            <a:avLst/>
          </a:prstGeom>
          <a:solidFill>
            <a:srgbClr val="060D17"/>
          </a:solidFill>
          <a:ln w="5080">
            <a:solidFill>
              <a:srgbClr val="8E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36208" y="6029192"/>
            <a:ext cx="5650992" cy="34747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6056624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PAGE 6  —  Interactive Hotspot Targeting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6413240"/>
            <a:ext cx="5650992" cy="347472"/>
          </a:xfrm>
          <a:prstGeom prst="rect">
            <a:avLst/>
          </a:prstGeom>
          <a:solidFill>
            <a:srgbClr val="131E35"/>
          </a:solidFill>
          <a:ln w="889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6458960"/>
            <a:ext cx="54864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▸ Boundary-safe interactive markers target exact danger zones without leaving the browser.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/>
              <a:t>9 / 11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5426FFD-6883-7E39-1FB1-C36631C22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719073"/>
            <a:ext cx="5669280" cy="427543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EBC40C2-84E3-6090-5CEB-FCBD26CBE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723100"/>
            <a:ext cx="5650992" cy="42695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4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4C5E"/>
                </a:solidFill>
              </a:rPr>
              <a:t>WORK DONE  ›  PAGE 7 &amp; PAGE 8  (RESULTS)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3891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Step 7: Analyse Results   |   Step 8: Automated Risk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70432"/>
            <a:ext cx="11521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8E9EB0"/>
                </a:solidFill>
              </a:rPr>
              <a:t>The final two pages transform raw InSAR numbers into three scientific charts and a complete geotechnical safety verdict.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719071"/>
            <a:ext cx="5669280" cy="4203209"/>
          </a:xfrm>
          <a:prstGeom prst="rect">
            <a:avLst/>
          </a:prstGeom>
          <a:solidFill>
            <a:srgbClr val="060D17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93192" y="1792224"/>
            <a:ext cx="5522976" cy="2761488"/>
          </a:xfrm>
          <a:prstGeom prst="rect">
            <a:avLst/>
          </a:prstGeom>
          <a:solidFill>
            <a:srgbClr val="060D17"/>
          </a:solidFill>
          <a:ln w="5080">
            <a:solidFill>
              <a:srgbClr val="8E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5958857"/>
            <a:ext cx="56692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5986289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PAGE 7  —  Advanced Displacement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6342905"/>
            <a:ext cx="5669280" cy="453523"/>
          </a:xfrm>
          <a:prstGeom prst="rect">
            <a:avLst/>
          </a:prstGeom>
          <a:solidFill>
            <a:srgbClr val="131E35"/>
          </a:solidFill>
          <a:ln w="889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388625"/>
            <a:ext cx="5486400" cy="1159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▸ Automatically plots E/W drift, LOS, and 3D trajectories with auto-generated plain-English findings.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1719071"/>
            <a:ext cx="5650992" cy="4203209"/>
          </a:xfrm>
          <a:prstGeom prst="rect">
            <a:avLst/>
          </a:prstGeom>
          <a:solidFill>
            <a:srgbClr val="060D17"/>
          </a:solidFill>
          <a:ln w="19050">
            <a:solidFill>
              <a:srgbClr val="FF4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792224"/>
            <a:ext cx="5504688" cy="2761488"/>
          </a:xfrm>
          <a:prstGeom prst="rect">
            <a:avLst/>
          </a:prstGeom>
          <a:solidFill>
            <a:srgbClr val="060D17"/>
          </a:solidFill>
          <a:ln w="5080">
            <a:solidFill>
              <a:srgbClr val="8E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36208" y="5958857"/>
            <a:ext cx="5650992" cy="347472"/>
          </a:xfrm>
          <a:prstGeom prst="rect">
            <a:avLst/>
          </a:prstGeom>
          <a:solidFill>
            <a:srgbClr val="FF4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5986289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PAGE 8  —  Automated Geotechnical Risk Assessment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6342905"/>
            <a:ext cx="5650992" cy="453523"/>
          </a:xfrm>
          <a:prstGeom prst="rect">
            <a:avLst/>
          </a:prstGeom>
          <a:solidFill>
            <a:srgbClr val="131E35"/>
          </a:solidFill>
          <a:ln w="8890">
            <a:solidFill>
              <a:srgbClr val="FF4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6388625"/>
            <a:ext cx="54864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</a:rPr>
              <a:t>▸ Calculates threshold-based geotechnical severity and recommends concrete engineering actions.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/>
              <a:t>10 / 11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62C6FA4-1F90-9369-6907-99C23AC6A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57" y="1719073"/>
            <a:ext cx="5669280" cy="422395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4D08808-4F32-E9AF-412D-720B1C9B7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9" y="1719072"/>
            <a:ext cx="5632576" cy="42032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MineGuard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44637"/>
            <a:ext cx="3291840" cy="749808"/>
          </a:xfrm>
          <a:prstGeom prst="rect">
            <a:avLst/>
          </a:prstGeom>
          <a:solidFill>
            <a:srgbClr val="131E35"/>
          </a:solidFill>
          <a:ln w="1524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90941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39D353"/>
                </a:solidFill>
              </a:rPr>
              <a:t>Affordable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44637"/>
            <a:ext cx="3291840" cy="749808"/>
          </a:xfrm>
          <a:prstGeom prst="rect">
            <a:avLst/>
          </a:prstGeom>
          <a:solidFill>
            <a:srgbClr val="131E35"/>
          </a:solidFill>
          <a:ln w="1524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59" y="1490941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 dirty="0">
                <a:solidFill>
                  <a:srgbClr val="00B4FF"/>
                </a:solidFill>
              </a:rPr>
              <a:t>Automated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344637"/>
            <a:ext cx="3291840" cy="749808"/>
          </a:xfrm>
          <a:prstGeom prst="rect">
            <a:avLst/>
          </a:prstGeom>
          <a:solidFill>
            <a:srgbClr val="131E35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1490941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5A623"/>
                </a:solidFill>
              </a:rPr>
              <a:t>Accurate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768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 dirty="0">
                <a:solidFill>
                  <a:srgbClr val="8E9EB0"/>
                </a:solidFill>
              </a:rPr>
              <a:t>Any mine. Any continent. No satellite expertise required.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714947"/>
            <a:ext cx="7616952" cy="4572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2820455"/>
            <a:ext cx="11183112" cy="621792"/>
          </a:xfrm>
          <a:prstGeom prst="rect">
            <a:avLst/>
          </a:prstGeom>
          <a:solidFill>
            <a:srgbClr val="131E35"/>
          </a:solidFill>
          <a:ln w="1016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820455"/>
            <a:ext cx="164592" cy="62179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2911895"/>
            <a:ext cx="320040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 dirty="0">
                <a:solidFill>
                  <a:srgbClr val="00B4FF"/>
                </a:solidFill>
              </a:rPr>
              <a:t>InSAR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930183"/>
            <a:ext cx="7589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</a:rPr>
              <a:t>Fully automated SNAP interferometric processing for ASC &amp; DSC Sentinel-1 pairs.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70263"/>
            <a:ext cx="11183112" cy="621792"/>
          </a:xfrm>
          <a:prstGeom prst="rect">
            <a:avLst/>
          </a:prstGeom>
          <a:solidFill>
            <a:srgbClr val="131E35"/>
          </a:solidFill>
          <a:ln w="1016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3570263"/>
            <a:ext cx="164592" cy="6217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3661703"/>
            <a:ext cx="320040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 dirty="0">
                <a:solidFill>
                  <a:srgbClr val="F5A623"/>
                </a:solidFill>
              </a:rPr>
              <a:t>2D Decomposition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679991"/>
            <a:ext cx="7589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True East–West and Vertical displacement separated by solving a 2×2 linear system.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20071"/>
            <a:ext cx="11183112" cy="621792"/>
          </a:xfrm>
          <a:prstGeom prst="rect">
            <a:avLst/>
          </a:prstGeom>
          <a:solidFill>
            <a:srgbClr val="131E35"/>
          </a:solidFill>
          <a:ln w="1016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4320071"/>
            <a:ext cx="164592" cy="62179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4411511"/>
            <a:ext cx="320040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 dirty="0">
                <a:solidFill>
                  <a:srgbClr val="39D353"/>
                </a:solidFill>
              </a:rPr>
              <a:t>8-Page Web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4429799"/>
            <a:ext cx="7589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React TypeScript frontend + Python FastAPI backend; runs entirely in a browser.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069879"/>
            <a:ext cx="11183112" cy="621792"/>
          </a:xfrm>
          <a:prstGeom prst="rect">
            <a:avLst/>
          </a:prstGeom>
          <a:solidFill>
            <a:srgbClr val="131E35"/>
          </a:solidFill>
          <a:ln w="10160">
            <a:solidFill>
              <a:srgbClr val="FF4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5069879"/>
            <a:ext cx="164592" cy="621792"/>
          </a:xfrm>
          <a:prstGeom prst="rect">
            <a:avLst/>
          </a:prstGeom>
          <a:solidFill>
            <a:srgbClr val="FF4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2" y="5161319"/>
            <a:ext cx="320040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 dirty="0">
                <a:solidFill>
                  <a:srgbClr val="FF4C5E"/>
                </a:solidFill>
              </a:rPr>
              <a:t> Auto Risk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5179607"/>
            <a:ext cx="7589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Threshold-based geotechnical risk classification with engineering action recommendations.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5852160"/>
            <a:ext cx="8531352" cy="54864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28800" y="5888736"/>
            <a:ext cx="8531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 dirty="0">
                <a:solidFill>
                  <a:srgbClr val="FFFFFF"/>
                </a:solidFill>
              </a:rPr>
              <a:t>Thank You  —  Questions &amp; Discussion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601968"/>
            <a:ext cx="10972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 dirty="0">
                <a:solidFill>
                  <a:srgbClr val="8E9EB0"/>
                </a:solidFill>
              </a:rPr>
              <a:t>Ujjwal Rawat  •  225EC6010  •  ECE Department  •  NIT Rourkela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528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/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1784</Words>
  <Application>Microsoft Office PowerPoint</Application>
  <PresentationFormat>Custom</PresentationFormat>
  <Paragraphs>150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Ujjwal Rawat</cp:lastModifiedBy>
  <cp:revision>8</cp:revision>
  <dcterms:created xsi:type="dcterms:W3CDTF">2013-01-27T09:14:16Z</dcterms:created>
  <dcterms:modified xsi:type="dcterms:W3CDTF">2026-04-07T09:26:29Z</dcterms:modified>
  <cp:category/>
</cp:coreProperties>
</file>