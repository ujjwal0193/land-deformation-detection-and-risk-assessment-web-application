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FFFFFF"/>
                </a:solidFill>
              </a:rPr>
              <a:t>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00B4FF"/>
                </a:solidFill>
              </a:rPr>
              <a:t>Guard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617720"/>
            <a:ext cx="9144000" cy="45720"/>
          </a:xfrm>
          <a:prstGeom prst="rect">
            <a:avLst/>
          </a:prstGeom>
          <a:solidFill>
            <a:srgbClr val="8E9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E9EB0"/>
                </a:solidFill>
              </a:rPr>
              <a:t>Satellite-powered ground subsidence monitoring — designed for every mine site engineer.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86400"/>
            <a:ext cx="2377440" cy="384048"/>
          </a:xfrm>
          <a:prstGeom prst="rect">
            <a:avLst/>
          </a:prstGeom>
          <a:solidFill>
            <a:srgbClr val="131E35"/>
          </a:solidFill>
          <a:ln w="1016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046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</a:rPr>
              <a:t>React + 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5486400"/>
            <a:ext cx="2377440" cy="384048"/>
          </a:xfrm>
          <a:prstGeom prst="rect">
            <a:avLst/>
          </a:prstGeom>
          <a:solidFill>
            <a:srgbClr val="131E35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55046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A623"/>
                </a:solidFill>
              </a:rPr>
              <a:t>Python 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5486400"/>
            <a:ext cx="2377440" cy="384048"/>
          </a:xfrm>
          <a:prstGeom prst="rect">
            <a:avLst/>
          </a:prstGeom>
          <a:solidFill>
            <a:srgbClr val="131E35"/>
          </a:solidFill>
          <a:ln w="1016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55046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9D353"/>
                </a:solidFill>
              </a:rPr>
              <a:t>SNAP InSAR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5486400"/>
            <a:ext cx="2377440" cy="384048"/>
          </a:xfrm>
          <a:prstGeom prst="rect">
            <a:avLst/>
          </a:prstGeom>
          <a:solidFill>
            <a:srgbClr val="131E35"/>
          </a:solidFill>
          <a:ln w="1016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55046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</a:rPr>
              <a:t>Sentinel-1  ASC+DSC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E9EB0"/>
                </a:solidFill>
              </a:rPr>
              <a:t>Final Project  •  ECE Department  •  NIT Rourkela  •  Ujjwal Rawat (225EC6010)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FF"/>
                </a:solidFill>
              </a:rPr>
              <a:t>PRODUCT SPECIFICATION  ›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MineGuard?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B3E5FC"/>
                </a:solidFill>
              </a:rPr>
              <a:t>MineGuard is a full-stack web application that uses free Sentinel-1 satellite radar data to automatically detect and track ground subsidence at active mine sites — with no programming or satellite expertise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286000"/>
            <a:ext cx="3712463" cy="4297680"/>
          </a:xfrm>
          <a:prstGeom prst="rect">
            <a:avLst/>
          </a:prstGeom>
          <a:solidFill>
            <a:srgbClr val="131E35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4505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🌍  Why It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999232"/>
            <a:ext cx="3383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3090672"/>
            <a:ext cx="340156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00B4FF"/>
                </a:solidFill>
              </a:rPr>
              <a:t>▸ Problem  </a:t>
            </a:r>
            <a:r>
              <a:rPr sz="1100">
                <a:solidFill>
                  <a:srgbClr val="FFFFFF"/>
                </a:solidFill>
              </a:rPr>
              <a:t>Mining excavations cause ground to sink and slide — often undetected until too late.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B4FF"/>
                </a:solidFill>
              </a:rPr>
              <a:t>▸ Cost  </a:t>
            </a:r>
            <a:r>
              <a:rPr sz="1100">
                <a:solidFill>
                  <a:srgbClr val="FFFFFF"/>
                </a:solidFill>
              </a:rPr>
              <a:t>Traditional ground sensors are expensive, local, and require specialist teams.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B4FF"/>
                </a:solidFill>
              </a:rPr>
              <a:t>▸ Gap  </a:t>
            </a:r>
            <a:r>
              <a:rPr sz="1100">
                <a:solidFill>
                  <a:srgbClr val="FFFFFF"/>
                </a:solidFill>
              </a:rPr>
              <a:t>No affordable, automated tool existed for non-technical mine site engineers.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286000"/>
            <a:ext cx="3712463" cy="4297680"/>
          </a:xfrm>
          <a:prstGeom prst="rect">
            <a:avLst/>
          </a:prstGeom>
          <a:solidFill>
            <a:srgbClr val="131E35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4505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📡  What It Uses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2999232"/>
            <a:ext cx="33832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3090672"/>
            <a:ext cx="340156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F5A623"/>
                </a:solidFill>
              </a:rPr>
              <a:t>▸ Satellite  </a:t>
            </a:r>
            <a:r>
              <a:rPr sz="1100">
                <a:solidFill>
                  <a:srgbClr val="FFFFFF"/>
                </a:solidFill>
              </a:rPr>
              <a:t>Free Sentinel-1 SAR images from the European Space Agency (ESA) Copernicus programme.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A623"/>
                </a:solidFill>
              </a:rPr>
              <a:t>▸ Engine  </a:t>
            </a:r>
            <a:r>
              <a:rPr sz="1100">
                <a:solidFill>
                  <a:srgbClr val="FFFFFF"/>
                </a:solidFill>
              </a:rPr>
              <a:t>SNAP (Sentinel Application Platform) for professional InSAR interferogram processing.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A623"/>
                </a:solidFill>
              </a:rPr>
              <a:t>▸ Stack  </a:t>
            </a:r>
            <a:r>
              <a:rPr sz="1100">
                <a:solidFill>
                  <a:srgbClr val="FFFFFF"/>
                </a:solidFill>
              </a:rPr>
              <a:t>React TypeScript frontend + Python FastAPI backend — runs entirely in a web browser.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286000"/>
            <a:ext cx="3712463" cy="4297680"/>
          </a:xfrm>
          <a:prstGeom prst="rect">
            <a:avLst/>
          </a:prstGeom>
          <a:solidFill>
            <a:srgbClr val="131E35"/>
          </a:solidFill>
          <a:ln w="1524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24505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</a:rPr>
              <a:t>✅  What It Delivers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2999232"/>
            <a:ext cx="3383280" cy="36576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3090672"/>
            <a:ext cx="340156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39D353"/>
                </a:solidFill>
              </a:rPr>
              <a:t>▸ Output  </a:t>
            </a:r>
            <a:r>
              <a:rPr sz="1100">
                <a:solidFill>
                  <a:srgbClr val="FFFFFF"/>
                </a:solidFill>
              </a:rPr>
              <a:t>Millimetre-precision ground displacement measurements at user-selected hotspot locations.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39D353"/>
                </a:solidFill>
              </a:rPr>
              <a:t>▸ Report  </a:t>
            </a:r>
            <a:r>
              <a:rPr sz="1100">
                <a:solidFill>
                  <a:srgbClr val="FFFFFF"/>
                </a:solidFill>
              </a:rPr>
              <a:t>Automated geotechnical risk assessment: Low / Medium / High / Critical per hotspot.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39D353"/>
                </a:solidFill>
              </a:rPr>
              <a:t>▸ Access  </a:t>
            </a:r>
            <a:r>
              <a:rPr sz="1100">
                <a:solidFill>
                  <a:srgbClr val="FFFFFF"/>
                </a:solidFill>
              </a:rPr>
              <a:t>Any mine on Earth, any timeframe from 2014–present, zero cost satellite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PRODUCT SPECIFICATION  › 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Built for the Field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E9EB0"/>
                </a:solidFill>
              </a:rPr>
              <a:t>Every design decision was made for mine site engineers who have no computer science background. The application guides users through every step without jargon.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57400"/>
            <a:ext cx="2176272" cy="4526280"/>
          </a:xfrm>
          <a:prstGeom prst="rect">
            <a:avLst/>
          </a:prstGeom>
          <a:solidFill>
            <a:srgbClr val="131E35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212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4436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Step-by-Step
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49039"/>
            <a:ext cx="20299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9EB0"/>
                </a:solidFill>
              </a:rPr>
              <a:t>Every page opens with a clearly numbered instruction panel explaining exactly what to do next. The user never wonders what a button does.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15184" y="2057400"/>
            <a:ext cx="2176272" cy="4526280"/>
          </a:xfrm>
          <a:prstGeom prst="rect">
            <a:avLst/>
          </a:prstGeom>
          <a:solidFill>
            <a:srgbClr val="131E35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52344" y="2212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294436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Purpose-Built
Dark Theme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3749039"/>
            <a:ext cx="20299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9EB0"/>
                </a:solidFill>
              </a:rPr>
              <a:t>A high-contrast dark colour scheme reduces eye fatigue during long monitoring sessions. Key actions are highlighted in vivid blue.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6048" y="2057400"/>
            <a:ext cx="2176272" cy="4526280"/>
          </a:xfrm>
          <a:prstGeom prst="rect">
            <a:avLst/>
          </a:prstGeom>
          <a:solidFill>
            <a:srgbClr val="131E35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8" y="2212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94436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Plain-English
Graph Captions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3749039"/>
            <a:ext cx="20299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9EB0"/>
                </a:solidFill>
              </a:rPr>
              <a:t>Each displacement chart is accompanied by an auto-generated sentence explaining what the graph shows — no data science knowledge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6912" y="2057400"/>
            <a:ext cx="2176272" cy="4526280"/>
          </a:xfrm>
          <a:prstGeom prst="rect">
            <a:avLst/>
          </a:prstGeom>
          <a:solidFill>
            <a:srgbClr val="131E35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2" y="2212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294436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Boundary-Safe
Inputs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3749039"/>
            <a:ext cx="20299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9EB0"/>
                </a:solidFill>
              </a:rPr>
              <a:t>Click-safety guards prevent users from placing hotspot markers outside the crop boundary, and warn before any destructive action is taken.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37776" y="2057400"/>
            <a:ext cx="2176272" cy="4526280"/>
          </a:xfrm>
          <a:prstGeom prst="rect">
            <a:avLst/>
          </a:prstGeom>
          <a:solidFill>
            <a:srgbClr val="131E35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4936" y="2212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294436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Live Status
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6" y="3749039"/>
            <a:ext cx="20299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9EB0"/>
                </a:solidFill>
              </a:rPr>
              <a:t>The processing dashboard updates every 3 seconds so engineers always know which satellite pairs are running, complete, or waiting.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9D353"/>
                </a:solidFill>
              </a:rPr>
              <a:t>PRODUCT SPECIFICATION  › 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Who Uses MineGuard?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E9EB0"/>
                </a:solidFill>
              </a:rPr>
              <a:t>MineGuard is designed as a universal tool — from daily operational safety checks to long-term academic subsidence research.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3712463" cy="4709160"/>
          </a:xfrm>
          <a:prstGeom prst="rect">
            <a:avLst/>
          </a:prstGeom>
          <a:solidFill>
            <a:srgbClr val="131E3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0848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</a:rPr>
              <a:t>⛏  Mine Site Engineer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633472"/>
            <a:ext cx="3383280" cy="36576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724912"/>
            <a:ext cx="340156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39D353"/>
                </a:solidFill>
              </a:rPr>
              <a:t>▸ Daily Task  </a:t>
            </a:r>
            <a:r>
              <a:rPr sz="1100">
                <a:solidFill>
                  <a:srgbClr val="FFFFFF"/>
                </a:solidFill>
              </a:rPr>
              <a:t>Open the app, select the mine, and check if any hotspot crossed a risk threshold overnight.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39D353"/>
                </a:solidFill>
              </a:rPr>
              <a:t>▸ Value  </a:t>
            </a:r>
            <a:r>
              <a:rPr sz="1100">
                <a:solidFill>
                  <a:srgbClr val="FFFFFF"/>
                </a:solidFill>
              </a:rPr>
              <a:t>Replaces expensive GPS survey teams. Results available within hours of satellite pass.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39D353"/>
                </a:solidFill>
              </a:rPr>
              <a:t>▸ Ease  </a:t>
            </a:r>
            <a:r>
              <a:rPr sz="1100">
                <a:solidFill>
                  <a:srgbClr val="FFFFFF"/>
                </a:solidFill>
              </a:rPr>
              <a:t>No training needed beyond basic web browsing. The app instructs the user at every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712463" cy="470916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0848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🏗  Geotechnical Consultant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2633472"/>
            <a:ext cx="3383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724912"/>
            <a:ext cx="340156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00B4FF"/>
                </a:solidFill>
              </a:rPr>
              <a:t>▸ Task  </a:t>
            </a:r>
            <a:r>
              <a:rPr sz="1100">
                <a:solidFill>
                  <a:srgbClr val="FFFFFF"/>
                </a:solidFill>
              </a:rPr>
              <a:t>Import a client's mine, define the crop area, and run a multi-year displacement analysis.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B4FF"/>
                </a:solidFill>
              </a:rPr>
              <a:t>▸ Value  </a:t>
            </a:r>
            <a:r>
              <a:rPr sz="1100">
                <a:solidFill>
                  <a:srgbClr val="FFFFFF"/>
                </a:solidFill>
              </a:rPr>
              <a:t>Generates a professional, printable risk report automatically — ready to hand to the client.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B4FF"/>
                </a:solidFill>
              </a:rPr>
              <a:t>▸ Ease  </a:t>
            </a:r>
            <a:r>
              <a:rPr sz="1100">
                <a:solidFill>
                  <a:srgbClr val="FFFFFF"/>
                </a:solidFill>
              </a:rPr>
              <a:t>All complex InSAR maths is automated; the consultant only interprets the final charts.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920240"/>
            <a:ext cx="3712463" cy="4709160"/>
          </a:xfrm>
          <a:prstGeom prst="rect">
            <a:avLst/>
          </a:prstGeom>
          <a:solidFill>
            <a:srgbClr val="131E3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20848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🎓  Research / Academia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2633472"/>
            <a:ext cx="33832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724912"/>
            <a:ext cx="340156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F5A623"/>
                </a:solidFill>
              </a:rPr>
              <a:t>▸ Task  </a:t>
            </a:r>
            <a:r>
              <a:rPr sz="1100">
                <a:solidFill>
                  <a:srgbClr val="FFFFFF"/>
                </a:solidFill>
              </a:rPr>
              <a:t>Study long-term subsidence trends across multiple mine sites using Sentinel-1 archives.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A623"/>
                </a:solidFill>
              </a:rPr>
              <a:t>▸ Value  </a:t>
            </a:r>
            <a:r>
              <a:rPr sz="1100">
                <a:solidFill>
                  <a:srgbClr val="FFFFFF"/>
                </a:solidFill>
              </a:rPr>
              <a:t>Free satellite data from 2014 onwards provides a decade-long deformation record.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A623"/>
                </a:solidFill>
              </a:rPr>
              <a:t>▸ Ease  </a:t>
            </a:r>
            <a:r>
              <a:rPr sz="1100">
                <a:solidFill>
                  <a:srgbClr val="FFFFFF"/>
                </a:solidFill>
              </a:rPr>
              <a:t>Export-ready CSV displacement values and publication-quality matplotlib charts.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4C5E"/>
                </a:solidFill>
              </a:rPr>
              <a:t>PRODUCT DETAIL  ›  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Ground Doesn't Just Sink — It Slides.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FF4C5E"/>
                </a:solidFill>
              </a:rPr>
              <a:t>East–West horizontal displacement is the earliest warning signal of mine-slope failure — yet it is invisible to conventional vertical sensors.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5394960" cy="4572000"/>
          </a:xfrm>
          <a:prstGeom prst="rect">
            <a:avLst/>
          </a:prstGeom>
          <a:solidFill>
            <a:srgbClr val="131E35"/>
          </a:solidFill>
          <a:ln w="2286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7627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4C5E"/>
                </a:solidFill>
              </a:rPr>
              <a:t>❌  Without East–West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50292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FF4C5E"/>
                </a:solidFill>
              </a:rPr>
              <a:t>▸ Hidden Hazard  </a:t>
            </a:r>
            <a:r>
              <a:rPr sz="1100">
                <a:solidFill>
                  <a:srgbClr val="8E9EB0"/>
                </a:solidFill>
              </a:rPr>
              <a:t>Horizontal sliding begins weeks before the ground visibly sinks — giving a false sense of stability on vertical-only monitors.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F4C5E"/>
                </a:solidFill>
              </a:rPr>
              <a:t>▸ Wrong Metric  </a:t>
            </a:r>
            <a:r>
              <a:rPr sz="1100">
                <a:solidFill>
                  <a:srgbClr val="8E9EB0"/>
                </a:solidFill>
              </a:rPr>
              <a:t>A sensor measuring only depth cannot distinguish whether a mine wall is sliding laterally outward or simply compressing downward.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F4C5E"/>
                </a:solidFill>
              </a:rPr>
              <a:t>▸ Late Warning  </a:t>
            </a:r>
            <a:r>
              <a:rPr sz="1100">
                <a:solidFill>
                  <a:srgbClr val="8E9EB0"/>
                </a:solidFill>
              </a:rPr>
              <a:t>By the time vertical settlement becomes measurable, the lateral failure has already progressed to a point where intervention is difficult.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F4C5E"/>
                </a:solidFill>
              </a:rPr>
              <a:t>▸ Industry Gap  </a:t>
            </a:r>
            <a:r>
              <a:rPr sz="1100">
                <a:solidFill>
                  <a:srgbClr val="8E9EB0"/>
                </a:solidFill>
              </a:rPr>
              <a:t>Most traditional InSAR tools report only vertical or line-of-sight displacement, omitting the critical East–West component entirely.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623560" cy="4572000"/>
          </a:xfrm>
          <a:prstGeom prst="rect">
            <a:avLst/>
          </a:prstGeom>
          <a:solidFill>
            <a:srgbClr val="131E35"/>
          </a:solidFill>
          <a:ln w="2286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76272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FF"/>
                </a:solidFill>
              </a:rPr>
              <a:t>✅  MineGuard — Horizontal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212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00B4FF"/>
                </a:solidFill>
              </a:rPr>
              <a:t>▸ True E–W Measurement  </a:t>
            </a:r>
            <a:r>
              <a:rPr sz="1100">
                <a:solidFill>
                  <a:srgbClr val="FFFFFF"/>
                </a:solidFill>
              </a:rPr>
              <a:t>Combines Ascending and Descending satellite passes to mathematically isolate the pure East–West component of ground movement.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0B4FF"/>
                </a:solidFill>
              </a:rPr>
              <a:t>▸ mm-Level Precision  </a:t>
            </a:r>
            <a:r>
              <a:rPr sz="1100">
                <a:solidFill>
                  <a:srgbClr val="FFFFFF"/>
                </a:solidFill>
              </a:rPr>
              <a:t>Sentinel-1 C-band radar resolves displacements as small as 1–3 mm, detecting lateral shifts months before they become dangerous.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0B4FF"/>
                </a:solidFill>
              </a:rPr>
              <a:t>▸ Early Intervention  </a:t>
            </a:r>
            <a:r>
              <a:rPr sz="1100">
                <a:solidFill>
                  <a:srgbClr val="FFFFFF"/>
                </a:solidFill>
              </a:rPr>
              <a:t>Knowing the direction of movement allows geotechnical teams to install targeted support structures before a critical failure event.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0B4FF"/>
                </a:solidFill>
              </a:rPr>
              <a:t>▸ Proven Science  </a:t>
            </a:r>
            <a:r>
              <a:rPr sz="1100">
                <a:solidFill>
                  <a:srgbClr val="FFFFFF"/>
                </a:solidFill>
              </a:rPr>
              <a:t>2D ASC+DSC InSAR decomposition is the standard method used in professional mine subsidence monitoring worldwide (e.g., Anglo American, BHP site surveys).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PRODUCT DETAIL  ›  3D VISUALISATION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Displacement Mapped into 3D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E9EB0"/>
                </a:solidFill>
              </a:rPr>
              <a:t>MineGuard plots every hotspot's complete deformation history on three orthogonal axes — so engineers can see exactly how, where, and when each point is moving.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11365992" cy="1371600"/>
          </a:xfrm>
          <a:prstGeom prst="rect">
            <a:avLst/>
          </a:prstGeom>
          <a:solidFill>
            <a:srgbClr val="131E35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011680"/>
            <a:ext cx="201168" cy="13716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FF"/>
                </a:solidFill>
              </a:rPr>
              <a:t>X  —  HORIZONTAL (East ↔ West)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1460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Measures true East–West ground displacement in millimetres per epoch.  |  Positive (+) means the ground moved Eastward. Negative (−) means Westward sliding.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80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E9EB0"/>
                </a:solidFill>
              </a:rPr>
              <a:t>↳ Example: P2 drifted −283 mm westward by 2021 — the strongest lateral movement on site.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20440"/>
            <a:ext cx="11365992" cy="1371600"/>
          </a:xfrm>
          <a:prstGeom prst="rect">
            <a:avLst/>
          </a:prstGeom>
          <a:solidFill>
            <a:srgbClr val="131E35"/>
          </a:solidFill>
          <a:ln w="1524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520440"/>
            <a:ext cx="201168" cy="13716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611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9D353"/>
                </a:solidFill>
              </a:rPr>
              <a:t>Y  —  VERTICAL (Subsidence)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023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Measures true vertical ground settlement in millimetres (downward is negative).  |  Derived from the same ASC+DSC decomposition as horizontal — both axes share one calculation.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3891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E9EB0"/>
                </a:solidFill>
              </a:rPr>
              <a:t>↳ Example: P1 settled −159 mm vertically over 4 years — moderate but steady subsidence.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029200"/>
            <a:ext cx="11365992" cy="1371600"/>
          </a:xfrm>
          <a:prstGeom prst="rect">
            <a:avLst/>
          </a:prstGeom>
          <a:solidFill>
            <a:srgbClr val="131E35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5029200"/>
            <a:ext cx="201168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120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A623"/>
                </a:solidFill>
              </a:rPr>
              <a:t>Z  —  TIME  (Year Axis)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5321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The temporal axis converts calendar dates to decimal years (e.g., June 2018 = 2018.42).  |  Time is shown continuously so acceleration or deceleration of movement is immediately visible.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8978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E9EB0"/>
                </a:solidFill>
              </a:rPr>
              <a:t>↳ Example: P5 was stable until 2018 then showed a sudden −210 mm lateral event in one epoch.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46520"/>
            <a:ext cx="11365992" cy="256032"/>
          </a:xfrm>
          <a:prstGeom prst="rect">
            <a:avLst/>
          </a:prstGeom>
          <a:solidFill>
            <a:srgbClr val="13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64808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5A623"/>
                </a:solidFill>
              </a:rPr>
              <a:t>★  Diverging 3D paths across hotspots confirm spatially heterogeneous deformation — different parts of the mine are failing by different mechanisms simultaneously.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FF"/>
                </a:solidFill>
              </a:rPr>
              <a:t>PRODUCT DETAIL  ›  HOW WE MEASURE HORIZONTAL DISPLACEMENT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Two Satellite Passes. One Precise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E9EB0"/>
                </a:solidFill>
              </a:rPr>
              <a:t>A single satellite pass measures ground movement only along its line-of-sight — a mixture of horizontal and vertical. Two opposite-direction passes let us mathematically separate both components.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03120"/>
            <a:ext cx="4297680" cy="448056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6771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🛰  Ascending Pass (ASC)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16352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00B4FF"/>
                </a:solidFill>
              </a:rPr>
              <a:t>▸ Direction  </a:t>
            </a:r>
            <a:r>
              <a:rPr sz="1100">
                <a:solidFill>
                  <a:srgbClr val="FFFFFF"/>
                </a:solidFill>
              </a:rPr>
              <a:t>Satellite flies Northward along an inclined orbit track.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0B4FF"/>
                </a:solidFill>
              </a:rPr>
              <a:t>▸ Look angle  </a:t>
            </a:r>
            <a:r>
              <a:rPr sz="1100">
                <a:solidFill>
                  <a:srgbClr val="FFFFFF"/>
                </a:solidFill>
              </a:rPr>
              <a:t>Radar beam points East toward ground, ~40° from vertical.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0B4FF"/>
                </a:solidFill>
              </a:rPr>
              <a:t>▸ Measures  </a:t>
            </a:r>
            <a:r>
              <a:rPr sz="1100">
                <a:solidFill>
                  <a:srgbClr val="FFFFFF"/>
                </a:solidFill>
              </a:rPr>
              <a:t>LOS displacement = blend of eastward shift + vertical settlement.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0B4FF"/>
                </a:solidFill>
              </a:rPr>
              <a:t>▸ Coverage  </a:t>
            </a:r>
            <a:r>
              <a:rPr sz="1100">
                <a:solidFill>
                  <a:srgbClr val="FFFFFF"/>
                </a:solidFill>
              </a:rPr>
              <a:t>Four ASC interferometric pairs acquired over 2017–2021.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103120"/>
            <a:ext cx="4297680" cy="4480560"/>
          </a:xfrm>
          <a:prstGeom prst="rect">
            <a:avLst/>
          </a:prstGeom>
          <a:solidFill>
            <a:srgbClr val="131E3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26771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🛰  Descending Pass (DSC)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816352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F5A623"/>
                </a:solidFill>
              </a:rPr>
              <a:t>▸ Direction  </a:t>
            </a:r>
            <a:r>
              <a:rPr sz="1100">
                <a:solidFill>
                  <a:srgbClr val="FFFFFF"/>
                </a:solidFill>
              </a:rPr>
              <a:t>Satellite flies Southward — the opposite track to ASC.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5A623"/>
                </a:solidFill>
              </a:rPr>
              <a:t>▸ Look angle  </a:t>
            </a:r>
            <a:r>
              <a:rPr sz="1100">
                <a:solidFill>
                  <a:srgbClr val="FFFFFF"/>
                </a:solidFill>
              </a:rPr>
              <a:t>Radar beam points West toward ground, ~35° from vertical.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5A623"/>
                </a:solidFill>
              </a:rPr>
              <a:t>▸ Measures  </a:t>
            </a:r>
            <a:r>
              <a:rPr sz="1100">
                <a:solidFill>
                  <a:srgbClr val="FFFFFF"/>
                </a:solidFill>
              </a:rPr>
              <a:t>LOS displacement from the opposite side — the other equation.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5A623"/>
                </a:solidFill>
              </a:rPr>
              <a:t>▸ Coverage  </a:t>
            </a:r>
            <a:r>
              <a:rPr sz="1100">
                <a:solidFill>
                  <a:srgbClr val="FFFFFF"/>
                </a:solidFill>
              </a:rPr>
              <a:t>Four DSC interferometric pairs matched within ≤12 days of ASC.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103120"/>
            <a:ext cx="2084831" cy="4480560"/>
          </a:xfrm>
          <a:prstGeom prst="rect">
            <a:avLst/>
          </a:prstGeom>
          <a:solidFill>
            <a:srgbClr val="131E3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23042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9D353"/>
                </a:solidFill>
              </a:rPr>
              <a:t>✅ 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83464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39D353"/>
                </a:solidFill>
              </a:rPr>
              <a:t>ASC
+
DSC
↓
True E/W
&amp;
Vertical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6480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9EB0"/>
                </a:solidFill>
              </a:rPr>
              <a:t>Formula: d_LOS = −sin(θ)·cos(α)·d_E + cos(θ)·d_U  — solved simultaneously for ASC &amp; DSC using Cramer's Rule.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WORK DONE  ›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MineGuard Processes Satellite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8E9EB0"/>
                </a:solidFill>
              </a:rPr>
              <a:t>Five sequential processing stages transform raw radar images into millimetre-precision ground displacement measurements and an automated risk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" y="1847088"/>
            <a:ext cx="2286000" cy="43891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83664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359152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B4FF"/>
                </a:solidFill>
              </a:rPr>
              <a:t>Data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999232"/>
            <a:ext cx="2121408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50" b="1">
                <a:solidFill>
                  <a:srgbClr val="00B4FF"/>
                </a:solidFill>
              </a:rPr>
              <a:t>▸ Source  </a:t>
            </a:r>
            <a:r>
              <a:rPr sz="950">
                <a:solidFill>
                  <a:srgbClr val="FFFFFF"/>
                </a:solidFill>
              </a:rPr>
              <a:t>Free Sentinel-1 C-band SAR images retrieved from the ESA Copernicus Data Space Ecosystem (CDSE) via the OData REST API.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00B4FF"/>
                </a:solidFill>
              </a:rPr>
              <a:t>▸ Selection  </a:t>
            </a:r>
            <a:r>
              <a:rPr sz="950">
                <a:solidFill>
                  <a:srgbClr val="FFFFFF"/>
                </a:solidFill>
              </a:rPr>
              <a:t>Both Ascending (ASC) and Descending (DSC) orbit passes are queried for the user-defined ROI, timeframe, and IW-SLC product type.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00B4FF"/>
                </a:solidFill>
              </a:rPr>
              <a:t>▸ Pairs  </a:t>
            </a:r>
            <a:r>
              <a:rPr sz="950">
                <a:solidFill>
                  <a:srgbClr val="FFFFFF"/>
                </a:solidFill>
              </a:rPr>
              <a:t>Images are automatically matched into interferometric pairs within a ≤12-day temporal baseline to maintain coherence.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1176" y="3977639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1847088"/>
            <a:ext cx="228600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883664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2359152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A623"/>
                </a:solidFill>
              </a:rPr>
              <a:t>InSAR Pre-Processing (SNAP)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2999232"/>
            <a:ext cx="2121408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50" b="1">
                <a:solidFill>
                  <a:srgbClr val="F5A623"/>
                </a:solidFill>
              </a:rPr>
              <a:t>▸ Co-registration  </a:t>
            </a:r>
            <a:r>
              <a:rPr sz="950">
                <a:solidFill>
                  <a:srgbClr val="FFFFFF"/>
                </a:solidFill>
              </a:rPr>
              <a:t>Master and slave SLC images are precisely aligned at sub-pixel accuracy using a cross-correlation-based co-registration graph in ESA SNAP.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F5A623"/>
                </a:solidFill>
              </a:rPr>
              <a:t>▸ Interferogram  </a:t>
            </a:r>
            <a:r>
              <a:rPr sz="950">
                <a:solidFill>
                  <a:srgbClr val="FFFFFF"/>
                </a:solidFill>
              </a:rPr>
              <a:t>Phase difference between the two acquisitions is computed; flat-earth and topographic phase are removed using a DEM.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F5A623"/>
                </a:solidFill>
              </a:rPr>
              <a:t>▸ Filtering + Unwrapping  </a:t>
            </a:r>
            <a:r>
              <a:rPr sz="950">
                <a:solidFill>
                  <a:srgbClr val="FFFFFF"/>
                </a:solidFill>
              </a:rPr>
              <a:t>Goldstein adaptive phase filter reduces noise; Snaphu phase unwrapping converts wrapped phase (−π to π) to absolute phase.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3977639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11496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1496" y="1847088"/>
            <a:ext cx="2286000" cy="43891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8" y="1883664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359152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9D353"/>
                </a:solidFill>
              </a:rPr>
              <a:t>LOS Displacement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2999232"/>
            <a:ext cx="2121408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50" b="1">
                <a:solidFill>
                  <a:srgbClr val="39D353"/>
                </a:solidFill>
              </a:rPr>
              <a:t>▸ Conversion  </a:t>
            </a:r>
            <a:r>
              <a:rPr sz="950">
                <a:solidFill>
                  <a:srgbClr val="FFFFFF"/>
                </a:solidFill>
              </a:rPr>
              <a:t>Unwrapped phase is converted to Line-of-Sight (LOS) displacement in mm: d_LOS = (λ / 4π) × Δφ, where λ = 5.55 cm for Sentinel-1.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39D353"/>
                </a:solidFill>
              </a:rPr>
              <a:t>▸ Geocoding  </a:t>
            </a:r>
            <a:r>
              <a:rPr sz="950">
                <a:solidFill>
                  <a:srgbClr val="FFFFFF"/>
                </a:solidFill>
              </a:rPr>
              <a:t>The displacement map is terrain-corrected and projected to WGS-84 geographic coordinates for spatial analysis.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39D353"/>
                </a:solidFill>
              </a:rPr>
              <a:t>▸ Sampling  </a:t>
            </a:r>
            <a:r>
              <a:rPr sz="950">
                <a:solidFill>
                  <a:srgbClr val="FFFFFF"/>
                </a:solidFill>
              </a:rPr>
              <a:t>LOS displacement values are sampled at each user-selected hotspot pixel coordinate for time-series construction.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3" y="3977639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43800" y="1847088"/>
            <a:ext cx="2286000" cy="438912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6952" y="1883664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359152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C5E"/>
                </a:solidFill>
              </a:rPr>
              <a:t>2D ASC+DSC Decomposition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999232"/>
            <a:ext cx="2121408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50" b="1">
                <a:solidFill>
                  <a:srgbClr val="FF4C5E"/>
                </a:solidFill>
              </a:rPr>
              <a:t>▸ System  </a:t>
            </a:r>
            <a:r>
              <a:rPr sz="950">
                <a:solidFill>
                  <a:srgbClr val="FFFFFF"/>
                </a:solidFill>
              </a:rPr>
              <a:t>One ASC LOS and one matched DSC LOS measurement form a 2×2 linear system: d_LOS = −sin(θ)cos(α)·d_E + cos(θ)·d_U.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FF4C5E"/>
                </a:solidFill>
              </a:rPr>
              <a:t>▸ Solution  </a:t>
            </a:r>
            <a:r>
              <a:rPr sz="950">
                <a:solidFill>
                  <a:srgbClr val="FFFFFF"/>
                </a:solidFill>
              </a:rPr>
              <a:t>The system is solved analytically using Cramer's Rule to yield true East–West (d_E) and true Vertical (d_U) displacement per epoch.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FF4C5E"/>
                </a:solidFill>
              </a:rPr>
              <a:t>▸ Output  </a:t>
            </a:r>
            <a:r>
              <a:rPr sz="950">
                <a:solidFill>
                  <a:srgbClr val="FFFFFF"/>
                </a:solidFill>
              </a:rPr>
              <a:t>Cumulative E/W and Vertical time-series are computed by summing incremental epoch values from the start of the monitoring period.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3977639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76104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B3E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76104" y="1847088"/>
            <a:ext cx="2286000" cy="438912"/>
          </a:xfrm>
          <a:prstGeom prst="rect">
            <a:avLst/>
          </a:prstGeom>
          <a:solidFill>
            <a:srgbClr val="B3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1883664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359152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3E5FC"/>
                </a:solidFill>
              </a:rPr>
              <a:t>Risk Classification &amp; Reporting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67544" y="2999232"/>
            <a:ext cx="2121408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50" b="1">
                <a:solidFill>
                  <a:srgbClr val="B3E5FC"/>
                </a:solidFill>
              </a:rPr>
              <a:t>▸ Thresholds  </a:t>
            </a:r>
            <a:r>
              <a:rPr sz="950">
                <a:solidFill>
                  <a:srgbClr val="FFFFFF"/>
                </a:solidFill>
              </a:rPr>
              <a:t>Cumulative displacement is compared against geotechnical severity bands: LOW &lt; 30 mm | MEDIUM &lt; 80 mm | HIGH &lt; 150 mm | CRITICAL ≥ 150 mm.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B3E5FC"/>
                </a:solidFill>
              </a:rPr>
              <a:t>▸ Report  </a:t>
            </a:r>
            <a:r>
              <a:rPr sz="950">
                <a:solidFill>
                  <a:srgbClr val="FFFFFF"/>
                </a:solidFill>
              </a:rPr>
              <a:t>An automated natural-language executive summary and colour-coded risk table are generated per hotspot without manual intervention.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B3E5FC"/>
                </a:solidFill>
              </a:rPr>
              <a:t>▸ Actions  </a:t>
            </a:r>
            <a:r>
              <a:rPr sz="950">
                <a:solidFill>
                  <a:srgbClr val="FFFFFF"/>
                </a:solidFill>
              </a:rPr>
              <a:t>Engineering recommendations (e.g., install inclinometers, evacuate zone) are ranked and output in order of severity.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9D353"/>
                </a:solidFill>
              </a:rPr>
              <a:t>WORK DONE  ›  COMPLETE 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8 Pages. One Seamless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8E9EB0"/>
                </a:solidFill>
              </a:rPr>
              <a:t>The app guides the engineer through eight sequential pages — from mine selection to automated risk report — each page building on the output of the one before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2743200" cy="228600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21031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48716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Search Mine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035808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EB0"/>
                </a:solidFill>
              </a:rPr>
              <a:t>Type mine name → global geocoding → satellite map centres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39" y="29718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2011680"/>
            <a:ext cx="2743200" cy="228600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21031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48716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Crop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3035808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EB0"/>
                </a:solidFill>
              </a:rPr>
              <a:t>Draw a bounding box on the map to define the exact monitoring zone.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9718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011680"/>
            <a:ext cx="2743200" cy="228600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1031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48716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035808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EB0"/>
                </a:solidFill>
              </a:rPr>
              <a:t>Select start/end year + frequency. App estimates data size &amp; compute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011680"/>
            <a:ext cx="2743200" cy="228600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7" y="21031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7" y="248716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Data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7" y="3035808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EB0"/>
                </a:solidFill>
              </a:rPr>
              <a:t>App queries ESA Copernicus and downloads Sentinel-1 SLC files automatically.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4805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9EB0"/>
                </a:solidFill>
              </a:rPr>
              <a:t>↙  continues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09160"/>
            <a:ext cx="2743200" cy="1938528"/>
          </a:xfrm>
          <a:prstGeom prst="rect">
            <a:avLst/>
          </a:prstGeom>
          <a:solidFill>
            <a:srgbClr val="131E3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7914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157216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565099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EB0"/>
                </a:solidFill>
              </a:rPr>
              <a:t>SNAP engine generates interferograms. Live progress dashboard updates every 3s.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39" y="55321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39" y="4709160"/>
            <a:ext cx="2743200" cy="1938528"/>
          </a:xfrm>
          <a:prstGeom prst="rect">
            <a:avLst/>
          </a:prstGeom>
          <a:solidFill>
            <a:srgbClr val="131E3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1568" y="47914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5157216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Pick Hotspots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565099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EB0"/>
                </a:solidFill>
              </a:rPr>
              <a:t>Click up to 10 danger zones on the satellite map. Coordinates sent to engine.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59" y="55321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4709160"/>
            <a:ext cx="2743200" cy="1938528"/>
          </a:xfrm>
          <a:prstGeom prst="rect">
            <a:avLst/>
          </a:prstGeom>
          <a:solidFill>
            <a:srgbClr val="131E3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47914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9D353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5157216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565099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EB0"/>
                </a:solidFill>
              </a:rPr>
              <a:t>Three scientific plots: E/W drift, LOS displacement, and 3D trajectory.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55321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4709160"/>
            <a:ext cx="2743200" cy="1938528"/>
          </a:xfrm>
          <a:prstGeom prst="rect">
            <a:avLst/>
          </a:prstGeom>
          <a:solidFill>
            <a:srgbClr val="131E3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36607" y="47914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9D353"/>
                </a:solidFill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6607" y="5157216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Risk 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6607" y="565099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EB0"/>
                </a:solidFill>
              </a:rPr>
              <a:t>Automated geotechnical summary with risk ratings and engineering actions.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FF"/>
                </a:solidFill>
              </a:rPr>
              <a:t>WORK DONE  ›  PAGE 1 &amp; PAGE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1: Find Your Mine   |   Step 2: Define the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8E9EB0"/>
                </a:solidFill>
              </a:rPr>
              <a:t>The first two pages establish where and what to monitor — transforming a mine name into precise geographical coordinates.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19072"/>
            <a:ext cx="5669280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" y="1792224"/>
            <a:ext cx="5522976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2670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E9EB0"/>
                </a:solidFill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218687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00B4FF"/>
                </a:solidFill>
              </a:rPr>
              <a:t>Page 1 — Search Mine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61187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E9EB0"/>
                </a:solidFill>
              </a:rPr>
              <a:t>Insert screenshot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663440"/>
            <a:ext cx="5669280" cy="34747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4690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PAGE 1  —  Search Mine  (Entry Point)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047488"/>
            <a:ext cx="5669280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093208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00B4FF"/>
                </a:solidFill>
              </a:rPr>
              <a:t>▸ What the user does  </a:t>
            </a:r>
            <a:r>
              <a:rPr sz="1050">
                <a:solidFill>
                  <a:srgbClr val="FFFFFF"/>
                </a:solidFill>
              </a:rPr>
              <a:t>Types the name of the mine (e.g., 'Jharia Coal Field') into a search bar.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B4FF"/>
                </a:solidFill>
              </a:rPr>
              <a:t>▸ What happens  </a:t>
            </a:r>
            <a:r>
              <a:rPr sz="1050">
                <a:solidFill>
                  <a:srgbClr val="FFFFFF"/>
                </a:solidFill>
              </a:rPr>
              <a:t>The Nominatim OpenStreetMap API geocodes the name in real-time and returns GPS coordinates as the user types — no manual lat/lon entry needed.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B4FF"/>
                </a:solidFill>
              </a:rPr>
              <a:t>▸ Map response  </a:t>
            </a:r>
            <a:r>
              <a:rPr sz="1050">
                <a:solidFill>
                  <a:srgbClr val="FFFFFF"/>
                </a:solidFill>
              </a:rPr>
              <a:t>An interactive Leaflet satellite map (Esri World Imagery) instantly recentres and zooms to the mine location for visual confirmation.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B4FF"/>
                </a:solidFill>
              </a:rPr>
              <a:t>▸ Design note  </a:t>
            </a:r>
            <a:r>
              <a:rPr sz="1050">
                <a:solidFill>
                  <a:srgbClr val="FFFFFF"/>
                </a:solidFill>
              </a:rPr>
              <a:t>A live dropdown shows ranked results so users can distinguish between similarly named mines in different countries.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719072"/>
            <a:ext cx="5650992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92224"/>
            <a:ext cx="5504688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95944" y="2670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E9EB0"/>
                </a:solidFill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218687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5A623"/>
                </a:solidFill>
              </a:rPr>
              <a:t>Page 2 — Crop Area (ROI)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611879"/>
            <a:ext cx="5468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E9EB0"/>
                </a:solidFill>
              </a:rPr>
              <a:t>Insert screenshot 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4663440"/>
            <a:ext cx="5650992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690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PAGE 2  —  Crop / Region of Interest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5047488"/>
            <a:ext cx="5650992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5093208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F5A623"/>
                </a:solidFill>
              </a:rPr>
              <a:t>▸ What the user does  </a:t>
            </a:r>
            <a:r>
              <a:rPr sz="1050">
                <a:solidFill>
                  <a:srgbClr val="FFFFFF"/>
                </a:solidFill>
              </a:rPr>
              <a:t>Clicks four corner points directly on the satellite map to draw a tight bounding box around the specific mine area to monitor.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A623"/>
                </a:solidFill>
              </a:rPr>
              <a:t>▸ Alternative input  </a:t>
            </a:r>
            <a:r>
              <a:rPr sz="1050">
                <a:solidFill>
                  <a:srgbClr val="FFFFFF"/>
                </a:solidFill>
              </a:rPr>
              <a:t>Manual coordinate fields (North/South/East/West) allow precise numerical entry for users who already know their ROI boundaries.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A623"/>
                </a:solidFill>
              </a:rPr>
              <a:t>▸ Why it matters  </a:t>
            </a:r>
            <a:r>
              <a:rPr sz="1050">
                <a:solidFill>
                  <a:srgbClr val="FFFFFF"/>
                </a:solidFill>
              </a:rPr>
              <a:t>The ROI boundary is sent to the backend for all satellite queries — a tight crop reduces download size by 60–80 % vs. a default wide area.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A623"/>
                </a:solidFill>
              </a:rPr>
              <a:t>▸ Safety  </a:t>
            </a:r>
            <a:r>
              <a:rPr sz="1050">
                <a:solidFill>
                  <a:srgbClr val="FFFFFF"/>
                </a:solidFill>
              </a:rPr>
              <a:t>Coordinates are immediately validated and stored in React Context, persisting across all downstream pages without any re-entry.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WORK DONE  ›  PAGE 3 &amp; PAGE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3: Set the Timeframe   |   Step 4: Retrieve Satellite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8E9EB0"/>
                </a:solidFill>
              </a:rPr>
              <a:t>These two pages configure the temporal scope of the analysis and automatically retrieve multi-gigabyte satellite datasets from ESA.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19072"/>
            <a:ext cx="5669280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" y="1792224"/>
            <a:ext cx="5522976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2670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E9EB0"/>
                </a:solidFill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218687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00B4FF"/>
                </a:solidFill>
              </a:rPr>
              <a:t>Page 3 — Timeline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61187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E9EB0"/>
                </a:solidFill>
              </a:rPr>
              <a:t>Insert screenshot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663440"/>
            <a:ext cx="5669280" cy="34747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4690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PAGE 3  —  Timeline 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047488"/>
            <a:ext cx="5669280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093208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00B4FF"/>
                </a:solidFill>
              </a:rPr>
              <a:t>▸ What the user does  </a:t>
            </a:r>
            <a:r>
              <a:rPr sz="1050">
                <a:solidFill>
                  <a:srgbClr val="FFFFFF"/>
                </a:solidFill>
              </a:rPr>
              <a:t>Selects a Start Year, End Year, and analysis frequency (e.g., Monthly, Quarterly) using simple dropdown menus.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B4FF"/>
                </a:solidFill>
              </a:rPr>
              <a:t>▸ Smart estimator  </a:t>
            </a:r>
            <a:r>
              <a:rPr sz="1050">
                <a:solidFill>
                  <a:srgbClr val="FFFFFF"/>
                </a:solidFill>
              </a:rPr>
              <a:t>The app dynamically calculates the total Sentinel-1 data volume (in GB) and estimated SNAP processing time for the chosen period.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B4FF"/>
                </a:solidFill>
              </a:rPr>
              <a:t>▸ Value  </a:t>
            </a:r>
            <a:r>
              <a:rPr sz="1050">
                <a:solidFill>
                  <a:srgbClr val="FFFFFF"/>
                </a:solidFill>
              </a:rPr>
              <a:t>Engineers can budget bandwidth and compute time before committing — avoiding accidental 200 GB downloads on a slow connection.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B4FF"/>
                </a:solidFill>
              </a:rPr>
              <a:t>▸ Output  </a:t>
            </a:r>
            <a:r>
              <a:rPr sz="1050">
                <a:solidFill>
                  <a:srgbClr val="FFFFFF"/>
                </a:solidFill>
              </a:rPr>
              <a:t>The selected timeframe is passed to the CDSE OData API query for building the interferometric pair schedule.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719072"/>
            <a:ext cx="5650992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92224"/>
            <a:ext cx="5504688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95944" y="2670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E9EB0"/>
                </a:solidFill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218687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39D353"/>
                </a:solidFill>
              </a:rPr>
              <a:t>Page 4 — Data Download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611879"/>
            <a:ext cx="5468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E9EB0"/>
                </a:solidFill>
              </a:rPr>
              <a:t>Insert screenshot 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4663440"/>
            <a:ext cx="5650992" cy="34747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690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PAGE 4  —  Sentinel-1 Data Download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5047488"/>
            <a:ext cx="5650992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5093208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39D353"/>
                </a:solidFill>
              </a:rPr>
              <a:t>▸ What the user does  </a:t>
            </a:r>
            <a:r>
              <a:rPr sz="1050">
                <a:solidFill>
                  <a:srgbClr val="FFFFFF"/>
                </a:solidFill>
              </a:rPr>
              <a:t>Clicks 'Start Download'. The app queries the ESA Copernicus Data Space Ecosystem API and fetches matching Sentinel-1 SLC scenes.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39D353"/>
                </a:solidFill>
              </a:rPr>
              <a:t>▸ Background processing  </a:t>
            </a:r>
            <a:r>
              <a:rPr sz="1050">
                <a:solidFill>
                  <a:srgbClr val="FFFFFF"/>
                </a:solidFill>
              </a:rPr>
              <a:t>Downloads run asynchronously — the web UI remains fully responsive while 7 GB files transfer in the background.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39D353"/>
                </a:solidFill>
              </a:rPr>
              <a:t>▸ Local Directory Link  </a:t>
            </a:r>
            <a:r>
              <a:rPr sz="1050">
                <a:solidFill>
                  <a:srgbClr val="FFFFFF"/>
                </a:solidFill>
              </a:rPr>
              <a:t>Users who already have the SLC files saved locally can click 'Link Local Directory' to bypass downloading entirely — saving hours.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39D353"/>
                </a:solidFill>
              </a:rPr>
              <a:t>▸ Integrity check  </a:t>
            </a:r>
            <a:r>
              <a:rPr sz="1050">
                <a:solidFill>
                  <a:srgbClr val="FFFFFF"/>
                </a:solidFill>
              </a:rPr>
              <a:t>Each file is verified before the pipeline advances: if any file is corrupt or missing, the user is warned before processing begins.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9D353"/>
                </a:solidFill>
              </a:rPr>
              <a:t>WORK DONE  ›  PAGE 5 &amp; PAGE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5: Process InSAR   |   Step 6: Select Hotspots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8E9EB0"/>
                </a:solidFill>
              </a:rPr>
              <a:t>The most technically intensive stage — generating interferograms with SNAP — and then targeting the specific danger zones to monitor.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19072"/>
            <a:ext cx="5669280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" y="1792224"/>
            <a:ext cx="5522976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2670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E9EB0"/>
                </a:solidFill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218687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5A623"/>
                </a:solidFill>
              </a:rPr>
              <a:t>Page 5 — Processing / SNAP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61187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E9EB0"/>
                </a:solidFill>
              </a:rPr>
              <a:t>Insert screenshot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663440"/>
            <a:ext cx="56692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4690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PAGE 5  —  SNAP InSAR Processing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047488"/>
            <a:ext cx="5669280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093208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F5A623"/>
                </a:solidFill>
              </a:rPr>
              <a:t>▸ What happens  </a:t>
            </a:r>
            <a:r>
              <a:rPr sz="1050">
                <a:solidFill>
                  <a:srgbClr val="FFFFFF"/>
                </a:solidFill>
              </a:rPr>
              <a:t>The app launches Python workers that run the ESA SNAP graph for each ASC and DSC interferometric pair (8 pairs total).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A623"/>
                </a:solidFill>
              </a:rPr>
              <a:t>▸ Live queue  </a:t>
            </a:r>
            <a:r>
              <a:rPr sz="1050">
                <a:solidFill>
                  <a:srgbClr val="FFFFFF"/>
                </a:solidFill>
              </a:rPr>
              <a:t>A colour-coded dashboard updates every 3 seconds: Pending (grey), Processing (amber spinner), Complete (green badge with elapsed time).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A623"/>
                </a:solidFill>
              </a:rPr>
              <a:t>▸ Smart pre-scan  </a:t>
            </a:r>
            <a:r>
              <a:rPr sz="1050">
                <a:solidFill>
                  <a:srgbClr val="FFFFFF"/>
                </a:solidFill>
              </a:rPr>
              <a:t>On restart, the app scans output folders and automatically skips any pair whose .dim file and .data directory already exist — no redundant compute.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A623"/>
                </a:solidFill>
              </a:rPr>
              <a:t>▸ Worker control  </a:t>
            </a:r>
            <a:r>
              <a:rPr sz="1050">
                <a:solidFill>
                  <a:srgbClr val="FFFFFF"/>
                </a:solidFill>
              </a:rPr>
              <a:t>A 'Start Processing' button begins the queue; a 'Stop Worker' button cancels at any time without corrupting completed outputs.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719072"/>
            <a:ext cx="5650992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92224"/>
            <a:ext cx="5504688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95944" y="2670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E9EB0"/>
                </a:solidFill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218687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00B4FF"/>
                </a:solidFill>
              </a:rPr>
              <a:t>Page 6 — Hotspot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611879"/>
            <a:ext cx="5468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E9EB0"/>
                </a:solidFill>
              </a:rPr>
              <a:t>Insert screenshot 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4663440"/>
            <a:ext cx="5650992" cy="34747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690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PAGE 6  —  Interactive Hotspot Targeting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5047488"/>
            <a:ext cx="5650992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5093208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00B4FF"/>
                </a:solidFill>
              </a:rPr>
              <a:t>▸ What the user does  </a:t>
            </a:r>
            <a:r>
              <a:rPr sz="1050">
                <a:solidFill>
                  <a:srgbClr val="FFFFFF"/>
                </a:solidFill>
              </a:rPr>
              <a:t>Clicks directly on the satellite map to place numbered monitoring markers (P1–P10) over specific high-risk zones such as pit walls.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B4FF"/>
                </a:solidFill>
              </a:rPr>
              <a:t>▸ Boundary guard  </a:t>
            </a:r>
            <a:r>
              <a:rPr sz="1050">
                <a:solidFill>
                  <a:srgbClr val="FFFFFF"/>
                </a:solidFill>
              </a:rPr>
              <a:t>The app prevents markers from being placed outside the ROI defined in Page 2 — a yellow warning appears if the user clicks outside.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B4FF"/>
                </a:solidFill>
              </a:rPr>
              <a:t>▸ Precision  </a:t>
            </a:r>
            <a:r>
              <a:rPr sz="1050">
                <a:solidFill>
                  <a:srgbClr val="FFFFFF"/>
                </a:solidFill>
              </a:rPr>
              <a:t>Each marker's exact GPS latitude and longitude is captured and displayed next to its label for field-team cross-reference.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B4FF"/>
                </a:solidFill>
              </a:rPr>
              <a:t>▸ Handoff  </a:t>
            </a:r>
            <a:r>
              <a:rPr sz="1050">
                <a:solidFill>
                  <a:srgbClr val="FFFFFF"/>
                </a:solidFill>
              </a:rPr>
              <a:t>Saved hotspot coordinates are passed directly to the Python analysis engine for pixel-level time-series extraction from the interferograms.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4C5E"/>
                </a:solidFill>
              </a:rPr>
              <a:t>WORK DONE  ›  PAGE 7 &amp; PAGE 8  (RESULTS)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7: Analyse Results   |   Step 8: Automated Risk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8E9EB0"/>
                </a:solidFill>
              </a:rPr>
              <a:t>The final two pages transform raw InSAR numbers into three scientific charts and a complete geotechnical safety verdict.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19072"/>
            <a:ext cx="5669280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" y="1792224"/>
            <a:ext cx="5522976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2670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E9EB0"/>
                </a:solidFill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218687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5A623"/>
                </a:solidFill>
              </a:rPr>
              <a:t>Page 7 — Results &amp;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61187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E9EB0"/>
                </a:solidFill>
              </a:rPr>
              <a:t>Insert screenshot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663440"/>
            <a:ext cx="56692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4690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PAGE 7  —  Advanced Displacement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047488"/>
            <a:ext cx="5669280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093208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F5A623"/>
                </a:solidFill>
              </a:rPr>
              <a:t>▸ Chart 1 — E/W Displacement  </a:t>
            </a:r>
            <a:r>
              <a:rPr sz="1050">
                <a:solidFill>
                  <a:srgbClr val="FFFFFF"/>
                </a:solidFill>
              </a:rPr>
              <a:t>Cumulative East–West displacement time-series for all hotspots. Positive = Eastward; Negative = Westward sliding.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A623"/>
                </a:solidFill>
              </a:rPr>
              <a:t>▸ Chart 2 — LOS Displacement  </a:t>
            </a:r>
            <a:r>
              <a:rPr sz="1050">
                <a:solidFill>
                  <a:srgbClr val="FFFFFF"/>
                </a:solidFill>
              </a:rPr>
              <a:t>Two-panel chart: grouped bar chart of per-pair raw LOS values, and a cumulative line chart showing net settlement over time.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A623"/>
                </a:solidFill>
              </a:rPr>
              <a:t>▸ Chart 3 — 3D Trajectory  </a:t>
            </a:r>
            <a:r>
              <a:rPr sz="1050">
                <a:solidFill>
                  <a:srgbClr val="FFFFFF"/>
                </a:solidFill>
              </a:rPr>
              <a:t>Dark-background 3D scatter plot: X = E/W, Y = Vertical, Z = Time. Each hotspot traces its full unique deformation path in space.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A623"/>
                </a:solidFill>
              </a:rPr>
              <a:t>▸ Plain-English Captions  </a:t>
            </a:r>
            <a:r>
              <a:rPr sz="1050">
                <a:solidFill>
                  <a:srgbClr val="FFFFFF"/>
                </a:solidFill>
              </a:rPr>
              <a:t>Below every chart, an auto-generated sentence explains the key finding in non-technical language for site managers.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719072"/>
            <a:ext cx="5650992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92224"/>
            <a:ext cx="5504688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95944" y="2670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E9EB0"/>
                </a:solidFill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218687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F4C5E"/>
                </a:solidFill>
              </a:rPr>
              <a:t>Page 8 — Geotechnical Summary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611879"/>
            <a:ext cx="5468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E9EB0"/>
                </a:solidFill>
              </a:rPr>
              <a:t>Insert screenshot 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4663440"/>
            <a:ext cx="5650992" cy="347472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690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PAGE 8  —  Automated Geotechnical Risk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5047488"/>
            <a:ext cx="5650992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5093208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FF4C5E"/>
                </a:solidFill>
              </a:rPr>
              <a:t>▸ Risk Classification  </a:t>
            </a:r>
            <a:r>
              <a:rPr sz="1050">
                <a:solidFill>
                  <a:srgbClr val="FFFFFF"/>
                </a:solidFill>
              </a:rPr>
              <a:t>Calculates cumulative displacement per hotspot and assigns: LOW (&lt;30 mm) / MEDIUM (&lt;80 mm) / HIGH (&lt;150 mm) / CRITICAL (&gt;150 mm).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F4C5E"/>
                </a:solidFill>
              </a:rPr>
              <a:t>▸ Executive Summary  </a:t>
            </a:r>
            <a:r>
              <a:rPr sz="1050">
                <a:solidFill>
                  <a:srgbClr val="FFFFFF"/>
                </a:solidFill>
              </a:rPr>
              <a:t>Auto-generates a site-wide natural-language paragraph describing the overall deformation pattern and dominant failure direction.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F4C5E"/>
                </a:solidFill>
              </a:rPr>
              <a:t>▸ Hotspot Risk Table  </a:t>
            </a:r>
            <a:r>
              <a:rPr sz="1050">
                <a:solidFill>
                  <a:srgbClr val="FFFFFF"/>
                </a:solidFill>
              </a:rPr>
              <a:t>Colour-coded table (green → red) listing each hotspot's peak displacement, trend direction, and individual risk verdict.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F4C5E"/>
                </a:solidFill>
              </a:rPr>
              <a:t>▸ Engineering Actions  </a:t>
            </a:r>
            <a:r>
              <a:rPr sz="1050">
                <a:solidFill>
                  <a:srgbClr val="FFFFFF"/>
                </a:solidFill>
              </a:rPr>
              <a:t>Produces a ranked list of recommended actions (e.g., 'Install inclinometers at P2') scaled automatically to the detected severity level.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MineGuard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3291840" cy="749808"/>
          </a:xfrm>
          <a:prstGeom prst="rect">
            <a:avLst/>
          </a:prstGeom>
          <a:solidFill>
            <a:srgbClr val="131E35"/>
          </a:solidFill>
          <a:ln w="1524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39D353"/>
                </a:solidFill>
              </a:rPr>
              <a:t>Affordable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508760"/>
            <a:ext cx="3291840" cy="749808"/>
          </a:xfrm>
          <a:prstGeom prst="rect">
            <a:avLst/>
          </a:prstGeom>
          <a:solidFill>
            <a:srgbClr val="131E35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162763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0B4FF"/>
                </a:solidFill>
              </a:rPr>
              <a:t>Automated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508760"/>
            <a:ext cx="3291840" cy="749808"/>
          </a:xfrm>
          <a:prstGeom prst="rect">
            <a:avLst/>
          </a:prstGeom>
          <a:solidFill>
            <a:srgbClr val="131E35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2763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5A623"/>
                </a:solidFill>
              </a:rPr>
              <a:t>Accurate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E9EB0"/>
                </a:solidFill>
              </a:rPr>
              <a:t>Any mine. Any continent. No satellite expertise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127248"/>
            <a:ext cx="7616952" cy="45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10128"/>
            <a:ext cx="11183112" cy="621792"/>
          </a:xfrm>
          <a:prstGeom prst="rect">
            <a:avLst/>
          </a:prstGeom>
          <a:solidFill>
            <a:srgbClr val="131E35"/>
          </a:solidFill>
          <a:ln w="1016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310128"/>
            <a:ext cx="164592" cy="6217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40156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B4FF"/>
                </a:solidFill>
              </a:rPr>
              <a:t>🛰  InSAR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419856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Fully automated SNAP interferometric processing for ASC &amp; DSC Sentinel-1 pairs.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59936"/>
            <a:ext cx="11183112" cy="621792"/>
          </a:xfrm>
          <a:prstGeom prst="rect">
            <a:avLst/>
          </a:prstGeom>
          <a:solidFill>
            <a:srgbClr val="131E35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59936"/>
            <a:ext cx="164592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15137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A623"/>
                </a:solidFill>
              </a:rPr>
              <a:t>📐  2D Decomposition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169664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True East–West and Vertical displacement separated by solving a 2×2 linear system.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09744"/>
            <a:ext cx="11183112" cy="621792"/>
          </a:xfrm>
          <a:prstGeom prst="rect">
            <a:avLst/>
          </a:prstGeom>
          <a:solidFill>
            <a:srgbClr val="131E35"/>
          </a:solidFill>
          <a:ln w="1016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809744"/>
            <a:ext cx="164592" cy="62179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90118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9D353"/>
                </a:solidFill>
              </a:rPr>
              <a:t>🌐  8-Page Web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919472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React TypeScript frontend + Python FastAPI backend; runs entirely in a browser.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559552"/>
            <a:ext cx="11183112" cy="621792"/>
          </a:xfrm>
          <a:prstGeom prst="rect">
            <a:avLst/>
          </a:prstGeom>
          <a:solidFill>
            <a:srgbClr val="131E35"/>
          </a:solidFill>
          <a:ln w="1016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559552"/>
            <a:ext cx="164592" cy="621792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6509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C5E"/>
                </a:solidFill>
              </a:rPr>
              <a:t>📋  Auto Risk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669280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Threshold-based geotechnical risk classification with engineering action recommendations.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6144768"/>
            <a:ext cx="8531352" cy="54864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6181344"/>
            <a:ext cx="8531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Thank You  —  Questions &amp; Discussion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60196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E9EB0"/>
                </a:solidFill>
              </a:rPr>
              <a:t>Ujjwal Rawat  •  225EC6010  •  ECE Department  •  NIT Rourkela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