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94171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 dirty="0">
                <a:solidFill>
                  <a:srgbClr val="FFFFFF"/>
                </a:solidFill>
              </a:rPr>
              <a:t>Mine</a:t>
            </a:r>
            <a:r>
              <a:rPr lang="en-IN" sz="6000" b="1" i="0" dirty="0">
                <a:solidFill>
                  <a:srgbClr val="FFFFFF"/>
                </a:solidFill>
              </a:rPr>
              <a:t> </a:t>
            </a:r>
            <a:r>
              <a:rPr lang="en-IN" sz="6000" b="1" dirty="0">
                <a:solidFill>
                  <a:srgbClr val="00B4FF"/>
                </a:solidFill>
              </a:rPr>
              <a:t>Guard</a:t>
            </a:r>
          </a:p>
          <a:p>
            <a:pPr algn="l"/>
            <a:endParaRPr sz="6000" b="1" i="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1225760"/>
            <a:ext cx="9144000" cy="45720"/>
          </a:xfrm>
          <a:prstGeom prst="rect">
            <a:avLst/>
          </a:prstGeom>
          <a:solidFill>
            <a:srgbClr val="8E9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62920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8E9EB0"/>
                </a:solidFill>
              </a:rPr>
              <a:t>Satellite-powered ground </a:t>
            </a:r>
            <a:r>
              <a:rPr lang="en-IN" sz="1600" b="0" i="1" dirty="0">
                <a:solidFill>
                  <a:srgbClr val="8E9EB0"/>
                </a:solidFill>
              </a:rPr>
              <a:t>East-West</a:t>
            </a:r>
            <a:r>
              <a:rPr sz="1600" b="0" i="1" dirty="0">
                <a:solidFill>
                  <a:srgbClr val="8E9EB0"/>
                </a:solidFill>
              </a:rPr>
              <a:t> </a:t>
            </a:r>
            <a:r>
              <a:rPr lang="en-IN" sz="1600" b="0" i="1" dirty="0">
                <a:solidFill>
                  <a:srgbClr val="8E9EB0"/>
                </a:solidFill>
              </a:rPr>
              <a:t>movement </a:t>
            </a:r>
            <a:r>
              <a:rPr sz="1600" b="0" i="1" dirty="0">
                <a:solidFill>
                  <a:srgbClr val="8E9EB0"/>
                </a:solidFill>
              </a:rPr>
              <a:t>monitoring — designed for every mine site engineer.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094440"/>
            <a:ext cx="2377440" cy="384048"/>
          </a:xfrm>
          <a:prstGeom prst="rect">
            <a:avLst/>
          </a:prstGeom>
          <a:solidFill>
            <a:srgbClr val="131E35"/>
          </a:solidFill>
          <a:ln w="1016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12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B4FF"/>
                </a:solidFill>
              </a:rPr>
              <a:t>React + TypeScript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2094440"/>
            <a:ext cx="2377440" cy="384048"/>
          </a:xfrm>
          <a:prstGeom prst="rect">
            <a:avLst/>
          </a:prstGeom>
          <a:solidFill>
            <a:srgbClr val="131E35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79" y="2112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5A623"/>
                </a:solidFill>
              </a:rPr>
              <a:t>Python </a:t>
            </a:r>
            <a:r>
              <a:rPr sz="1600" b="1" i="0" dirty="0" err="1">
                <a:solidFill>
                  <a:srgbClr val="F5A623"/>
                </a:solidFill>
              </a:rPr>
              <a:t>FastAPI</a:t>
            </a:r>
            <a:endParaRPr sz="1600" b="1" i="0" dirty="0">
              <a:solidFill>
                <a:srgbClr val="F5A623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52160" y="2094440"/>
            <a:ext cx="2377440" cy="384048"/>
          </a:xfrm>
          <a:prstGeom prst="rect">
            <a:avLst/>
          </a:prstGeom>
          <a:solidFill>
            <a:srgbClr val="131E35"/>
          </a:solidFill>
          <a:ln w="1016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97880" y="2112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39D353"/>
                </a:solidFill>
              </a:rPr>
              <a:t>SNAP InSAR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2094440"/>
            <a:ext cx="2377440" cy="384048"/>
          </a:xfrm>
          <a:prstGeom prst="rect">
            <a:avLst/>
          </a:prstGeom>
          <a:solidFill>
            <a:srgbClr val="131E35"/>
          </a:solidFill>
          <a:ln w="1016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112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B4FF"/>
                </a:solidFill>
              </a:rPr>
              <a:t>Sentinel-1  ASC+DSC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068" y="6464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8E9EB0"/>
                </a:solidFill>
              </a:rPr>
              <a:t>Final Project  •  ECE Department  •  NIT Rourkela  •  Ujjwal Rawat (225EC6010)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1 / 13</a:t>
            </a:r>
          </a:p>
        </p:txBody>
      </p:sp>
      <p:pic>
        <p:nvPicPr>
          <p:cNvPr id="19" name="object 4">
            <a:extLst>
              <a:ext uri="{FF2B5EF4-FFF2-40B4-BE49-F238E27FC236}">
                <a16:creationId xmlns:a16="http://schemas.microsoft.com/office/drawing/2014/main" id="{DFDED478-8C26-9A57-2B1E-3F606AAFB79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015" y="2539763"/>
            <a:ext cx="11553094" cy="39067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FF"/>
                </a:solidFill>
              </a:rPr>
              <a:t>PRODUCT SPECIFICATION  ›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is MineGuard?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11338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 err="1">
                <a:solidFill>
                  <a:srgbClr val="B3E5FC"/>
                </a:solidFill>
              </a:rPr>
              <a:t>MineGuard</a:t>
            </a:r>
            <a:r>
              <a:rPr sz="1600" b="0" i="1" dirty="0">
                <a:solidFill>
                  <a:srgbClr val="B3E5FC"/>
                </a:solidFill>
              </a:rPr>
              <a:t> is a full-stack web application that uses free Sentinel-1 satellite radar data to automatically detect and track ground </a:t>
            </a:r>
            <a:r>
              <a:rPr lang="en-IN" sz="1600" b="0" i="1" dirty="0">
                <a:solidFill>
                  <a:srgbClr val="B3E5FC"/>
                </a:solidFill>
              </a:rPr>
              <a:t>horizontal deformation</a:t>
            </a:r>
            <a:r>
              <a:rPr sz="1600" b="0" i="1" dirty="0">
                <a:solidFill>
                  <a:srgbClr val="B3E5FC"/>
                </a:solidFill>
              </a:rPr>
              <a:t> at active mine sites — with no programming or satellite expertise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286000"/>
            <a:ext cx="3712463" cy="4297680"/>
          </a:xfrm>
          <a:prstGeom prst="rect">
            <a:avLst/>
          </a:prstGeom>
          <a:solidFill>
            <a:srgbClr val="131E35"/>
          </a:solidFill>
          <a:ln w="1524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2450592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4FF"/>
                </a:solidFill>
              </a:rPr>
              <a:t>  Why It Matters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999232"/>
            <a:ext cx="338328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3090672"/>
            <a:ext cx="340156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 dirty="0">
                <a:solidFill>
                  <a:srgbClr val="00B4FF"/>
                </a:solidFill>
              </a:rPr>
              <a:t>▸ Problem  </a:t>
            </a:r>
            <a:r>
              <a:rPr sz="1600" dirty="0">
                <a:solidFill>
                  <a:srgbClr val="FFFFFF"/>
                </a:solidFill>
              </a:rPr>
              <a:t>Mining excavations cause ground to sink and slide — often undetected until too late.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0B4FF"/>
                </a:solidFill>
              </a:rPr>
              <a:t>▸ Cost  </a:t>
            </a:r>
            <a:r>
              <a:rPr sz="1600" dirty="0">
                <a:solidFill>
                  <a:srgbClr val="FFFFFF"/>
                </a:solidFill>
              </a:rPr>
              <a:t>Traditional ground sensors are expensive, local, and require specialist teams.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0B4FF"/>
                </a:solidFill>
              </a:rPr>
              <a:t>▸ Gap  </a:t>
            </a:r>
            <a:r>
              <a:rPr sz="1600" dirty="0">
                <a:solidFill>
                  <a:srgbClr val="FFFFFF"/>
                </a:solidFill>
              </a:rPr>
              <a:t>No affordable, automated tool existed for non-technical mine site engineers.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286000"/>
            <a:ext cx="3712463" cy="4297680"/>
          </a:xfrm>
          <a:prstGeom prst="rect">
            <a:avLst/>
          </a:prstGeom>
          <a:solidFill>
            <a:srgbClr val="131E35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2450592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A623"/>
                </a:solidFill>
              </a:rPr>
              <a:t>  What It Uses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2999232"/>
            <a:ext cx="33832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3090672"/>
            <a:ext cx="340156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 dirty="0">
                <a:solidFill>
                  <a:srgbClr val="F5A623"/>
                </a:solidFill>
              </a:rPr>
              <a:t>▸ Satellite  </a:t>
            </a:r>
            <a:r>
              <a:rPr sz="1600" dirty="0">
                <a:solidFill>
                  <a:srgbClr val="FFFFFF"/>
                </a:solidFill>
              </a:rPr>
              <a:t>Free Sentinel-1 SAR images from the European Space Agency (ESA) Copernicus </a:t>
            </a:r>
            <a:r>
              <a:rPr sz="1600" dirty="0" err="1">
                <a:solidFill>
                  <a:srgbClr val="FFFFFF"/>
                </a:solidFill>
              </a:rPr>
              <a:t>programme</a:t>
            </a:r>
            <a:r>
              <a:rPr sz="1600" dirty="0">
                <a:solidFill>
                  <a:srgbClr val="FFFFFF"/>
                </a:solidFill>
              </a:rPr>
              <a:t>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F5A623"/>
                </a:solidFill>
              </a:rPr>
              <a:t>▸ Engine  </a:t>
            </a:r>
            <a:r>
              <a:rPr sz="1600" dirty="0">
                <a:solidFill>
                  <a:srgbClr val="FFFFFF"/>
                </a:solidFill>
              </a:rPr>
              <a:t>SNAP (Sentinel Application Platform) for professional InSAR interferogram processing.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F5A623"/>
                </a:solidFill>
              </a:rPr>
              <a:t>▸ Stack  </a:t>
            </a:r>
            <a:r>
              <a:rPr sz="1600" dirty="0">
                <a:solidFill>
                  <a:srgbClr val="FFFFFF"/>
                </a:solidFill>
              </a:rPr>
              <a:t>React TypeScript frontend + Python </a:t>
            </a:r>
            <a:r>
              <a:rPr sz="1600" dirty="0" err="1">
                <a:solidFill>
                  <a:srgbClr val="FFFFFF"/>
                </a:solidFill>
              </a:rPr>
              <a:t>FastAPI</a:t>
            </a:r>
            <a:r>
              <a:rPr sz="1600" dirty="0">
                <a:solidFill>
                  <a:srgbClr val="FFFFFF"/>
                </a:solidFill>
              </a:rPr>
              <a:t> backend — runs entirely in a web browser.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2286000"/>
            <a:ext cx="3712463" cy="4297680"/>
          </a:xfrm>
          <a:prstGeom prst="rect">
            <a:avLst/>
          </a:prstGeom>
          <a:solidFill>
            <a:srgbClr val="131E35"/>
          </a:solidFill>
          <a:ln w="1524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2450592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39D353"/>
                </a:solidFill>
              </a:rPr>
              <a:t>  What It Delivers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9912" y="2999232"/>
            <a:ext cx="3383280" cy="36576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2" y="3090672"/>
            <a:ext cx="340156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 dirty="0">
                <a:solidFill>
                  <a:srgbClr val="39D353"/>
                </a:solidFill>
              </a:rPr>
              <a:t>▸ Output  </a:t>
            </a:r>
            <a:r>
              <a:rPr sz="1600" dirty="0" err="1">
                <a:solidFill>
                  <a:srgbClr val="FFFFFF"/>
                </a:solidFill>
              </a:rPr>
              <a:t>Millimetre</a:t>
            </a:r>
            <a:r>
              <a:rPr sz="1600" dirty="0">
                <a:solidFill>
                  <a:srgbClr val="FFFFFF"/>
                </a:solidFill>
              </a:rPr>
              <a:t>-precision ground displacement measurements at user-selected hotspot locations.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39D353"/>
                </a:solidFill>
              </a:rPr>
              <a:t>▸ Report  </a:t>
            </a:r>
            <a:r>
              <a:rPr sz="1600" dirty="0">
                <a:solidFill>
                  <a:srgbClr val="FFFFFF"/>
                </a:solidFill>
              </a:rPr>
              <a:t>Automated geotechnical risk assessment: Low / Medium / High / Critical per hotspot.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39D353"/>
                </a:solidFill>
              </a:rPr>
              <a:t>▸ Access  </a:t>
            </a:r>
            <a:r>
              <a:rPr sz="1600" dirty="0">
                <a:solidFill>
                  <a:srgbClr val="FFFFFF"/>
                </a:solidFill>
              </a:rPr>
              <a:t>Any mine on Earth, any timeframe from 2014–present, zero cost satellite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PRODUCT SPECIFICATION  › 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9485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Built for the Field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8E9EB0"/>
                </a:solidFill>
              </a:rPr>
              <a:t>Every design decision was made for mine site engineers who have no computer science background. The application guides users through every step without jargon.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57400"/>
            <a:ext cx="2176272" cy="4526280"/>
          </a:xfrm>
          <a:prstGeom prst="rect">
            <a:avLst/>
          </a:prstGeom>
          <a:solidFill>
            <a:srgbClr val="131E35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299366"/>
            <a:ext cx="2011680" cy="77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5A623"/>
                </a:solidFill>
              </a:rPr>
              <a:t>Step-by-Step
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36326"/>
            <a:ext cx="2029968" cy="226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8E9EB0"/>
                </a:solidFill>
              </a:rPr>
              <a:t>Every page opens with a clearly numbered instruction panel explaining exactly what to do next. The user never wonders what a button does.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15184" y="2057400"/>
            <a:ext cx="2176272" cy="4526280"/>
          </a:xfrm>
          <a:prstGeom prst="rect">
            <a:avLst/>
          </a:prstGeom>
          <a:solidFill>
            <a:srgbClr val="131E35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06624" y="2299366"/>
            <a:ext cx="2011680" cy="77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5A623"/>
                </a:solidFill>
              </a:rPr>
              <a:t>Purpose-Built
Dark Theme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3036326"/>
            <a:ext cx="2029968" cy="226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8E9EB0"/>
                </a:solidFill>
              </a:rPr>
              <a:t>A high-contrast dark </a:t>
            </a:r>
            <a:r>
              <a:rPr sz="1600" b="0" i="0" dirty="0" err="1">
                <a:solidFill>
                  <a:srgbClr val="8E9EB0"/>
                </a:solidFill>
              </a:rPr>
              <a:t>colour</a:t>
            </a:r>
            <a:r>
              <a:rPr sz="1600" b="0" i="0" dirty="0">
                <a:solidFill>
                  <a:srgbClr val="8E9EB0"/>
                </a:solidFill>
              </a:rPr>
              <a:t> scheme reduces eye fatigue during long monitoring sessions. Key actions are highlighted in vivid blue.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6048" y="2057400"/>
            <a:ext cx="2176272" cy="4526280"/>
          </a:xfrm>
          <a:prstGeom prst="rect">
            <a:avLst/>
          </a:prstGeom>
          <a:solidFill>
            <a:srgbClr val="131E35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47488" y="2299366"/>
            <a:ext cx="2011680" cy="77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Plain-English
Graph Captions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3048637"/>
            <a:ext cx="2029968" cy="1997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8E9EB0"/>
                </a:solidFill>
              </a:rPr>
              <a:t>Each displacement chart is accompanied by an auto-generated sentence explaining what the graph shows — no data science knowledge needed.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96912" y="2057400"/>
            <a:ext cx="2176272" cy="4526280"/>
          </a:xfrm>
          <a:prstGeom prst="rect">
            <a:avLst/>
          </a:prstGeom>
          <a:solidFill>
            <a:srgbClr val="131E35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88352" y="2299366"/>
            <a:ext cx="2011680" cy="77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Boundary-Safe
Inputs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3036326"/>
            <a:ext cx="2029968" cy="226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8E9EB0"/>
                </a:solidFill>
              </a:rPr>
              <a:t>Click-safety guards prevent users from placing hotspot markers outside the crop boundary, and warn before any destructive action is taken.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37776" y="2057400"/>
            <a:ext cx="2176272" cy="4526280"/>
          </a:xfrm>
          <a:prstGeom prst="rect">
            <a:avLst/>
          </a:prstGeom>
          <a:solidFill>
            <a:srgbClr val="131E35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29216" y="2299366"/>
            <a:ext cx="2011680" cy="77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Live Status
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9216" y="3048637"/>
            <a:ext cx="2029968" cy="1997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8E9EB0"/>
                </a:solidFill>
              </a:rPr>
              <a:t>The processing dashboard updates every 3 seconds so engineers always know which satellite pairs are running, complete, or waiting.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9D353"/>
                </a:solidFill>
              </a:rPr>
              <a:t>PRODUCT SPECIFICATION  › 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Who Uses MineGuard?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11338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 err="1">
                <a:solidFill>
                  <a:srgbClr val="8E9EB0"/>
                </a:solidFill>
              </a:rPr>
              <a:t>MineGuard</a:t>
            </a:r>
            <a:r>
              <a:rPr sz="1600" b="0" i="1" dirty="0">
                <a:solidFill>
                  <a:srgbClr val="8E9EB0"/>
                </a:solidFill>
              </a:rPr>
              <a:t> is designed as a universal tool — from daily operational safety checks to long-term academic subsidence research.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3712463" cy="4709160"/>
          </a:xfrm>
          <a:prstGeom prst="rect">
            <a:avLst/>
          </a:prstGeom>
          <a:solidFill>
            <a:srgbClr val="131E35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2084831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39D353"/>
                </a:solidFill>
              </a:rPr>
              <a:t>Mine Site Engineer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633472"/>
            <a:ext cx="3383280" cy="36576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2724912"/>
            <a:ext cx="340156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 dirty="0">
                <a:solidFill>
                  <a:srgbClr val="39D353"/>
                </a:solidFill>
              </a:rPr>
              <a:t>▸ Daily Task  </a:t>
            </a:r>
            <a:r>
              <a:rPr sz="1600" dirty="0">
                <a:solidFill>
                  <a:srgbClr val="FFFFFF"/>
                </a:solidFill>
              </a:rPr>
              <a:t>Open the app, select the mine, and check if any hotspot crossed a risk threshold overnight.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39D353"/>
                </a:solidFill>
              </a:rPr>
              <a:t>▸ Value  </a:t>
            </a:r>
            <a:r>
              <a:rPr sz="1600" dirty="0">
                <a:solidFill>
                  <a:srgbClr val="FFFFFF"/>
                </a:solidFill>
              </a:rPr>
              <a:t>Replaces expensive GPS survey teams. Results available within hours of satellite pass.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39D353"/>
                </a:solidFill>
              </a:rPr>
              <a:t>▸ Ease  </a:t>
            </a:r>
            <a:r>
              <a:rPr sz="1600" dirty="0">
                <a:solidFill>
                  <a:srgbClr val="FFFFFF"/>
                </a:solidFill>
              </a:rPr>
              <a:t>No training needed beyond basic web browsing. The app instructs the user at every step.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937826"/>
            <a:ext cx="3712463" cy="4709160"/>
          </a:xfrm>
          <a:prstGeom prst="rect">
            <a:avLst/>
          </a:prstGeom>
          <a:solidFill>
            <a:srgbClr val="131E35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2084831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4FF"/>
                </a:solidFill>
              </a:rPr>
              <a:t> Geotechnical Consultant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2633472"/>
            <a:ext cx="338328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2724912"/>
            <a:ext cx="340156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FF"/>
                </a:solidFill>
              </a:rPr>
              <a:t>▸ Task  </a:t>
            </a:r>
            <a:r>
              <a:rPr sz="1600">
                <a:solidFill>
                  <a:srgbClr val="FFFFFF"/>
                </a:solidFill>
              </a:rPr>
              <a:t>Import a client's mine, define the crop area, and run a multi-year displacement analysis.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FF"/>
                </a:solidFill>
              </a:rPr>
              <a:t>▸ Value  </a:t>
            </a:r>
            <a:r>
              <a:rPr sz="1600">
                <a:solidFill>
                  <a:srgbClr val="FFFFFF"/>
                </a:solidFill>
              </a:rPr>
              <a:t>Generates a professional, printable risk report automatically — ready to hand to the client.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FF"/>
                </a:solidFill>
              </a:rPr>
              <a:t>▸ Ease  </a:t>
            </a:r>
            <a:r>
              <a:rPr sz="1600">
                <a:solidFill>
                  <a:srgbClr val="FFFFFF"/>
                </a:solidFill>
              </a:rPr>
              <a:t>All complex InSAR maths is automated; the consultant only interprets the final charts.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1920240"/>
            <a:ext cx="3712463" cy="4709160"/>
          </a:xfrm>
          <a:prstGeom prst="rect">
            <a:avLst/>
          </a:prstGeom>
          <a:solidFill>
            <a:srgbClr val="131E35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2084831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A623"/>
                </a:solidFill>
              </a:rPr>
              <a:t> Research / Academia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9912" y="2633472"/>
            <a:ext cx="33832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2" y="2724912"/>
            <a:ext cx="340156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F5A623"/>
                </a:solidFill>
              </a:rPr>
              <a:t>▸ Task  </a:t>
            </a:r>
            <a:r>
              <a:rPr sz="1600">
                <a:solidFill>
                  <a:srgbClr val="FFFFFF"/>
                </a:solidFill>
              </a:rPr>
              <a:t>Study long-term subsidence trends across multiple mine sites using Sentinel-1 archives.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5A623"/>
                </a:solidFill>
              </a:rPr>
              <a:t>▸ Value  </a:t>
            </a:r>
            <a:r>
              <a:rPr sz="1600">
                <a:solidFill>
                  <a:srgbClr val="FFFFFF"/>
                </a:solidFill>
              </a:rPr>
              <a:t>Free satellite data from 2014 onwards provides a decade-long deformation record.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5A623"/>
                </a:solidFill>
              </a:rPr>
              <a:t>▸ Ease  </a:t>
            </a:r>
            <a:r>
              <a:rPr sz="1600">
                <a:solidFill>
                  <a:srgbClr val="FFFFFF"/>
                </a:solidFill>
              </a:rPr>
              <a:t>Export-ready CSV displacement values and publication-quality matplotlib charts.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4C5E"/>
                </a:solidFill>
              </a:rPr>
              <a:t>PRODUCT DETAIL  ›  THE CORE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Ground Doesn't Just Sink — It Slides.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11338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FF4C5E"/>
                </a:solidFill>
              </a:rPr>
              <a:t>East–West horizontal displacement is the earliest warning signal of mine-slope failure — yet it is invisible to conventional vertical sensors.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011680"/>
            <a:ext cx="5394960" cy="4572000"/>
          </a:xfrm>
          <a:prstGeom prst="rect">
            <a:avLst/>
          </a:prstGeom>
          <a:solidFill>
            <a:srgbClr val="131E35"/>
          </a:solidFill>
          <a:ln w="22860">
            <a:solidFill>
              <a:srgbClr val="FF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176272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4C5E"/>
                </a:solidFill>
              </a:rPr>
              <a:t>  Without East–West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945" y="2880360"/>
            <a:ext cx="5029200" cy="331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 b="1" dirty="0">
                <a:solidFill>
                  <a:srgbClr val="FF4C5E"/>
                </a:solidFill>
              </a:rPr>
              <a:t>▸ Hidden Hazard  </a:t>
            </a:r>
            <a:r>
              <a:rPr sz="1600" dirty="0">
                <a:solidFill>
                  <a:srgbClr val="8E9EB0"/>
                </a:solidFill>
              </a:rPr>
              <a:t>Horizontal sliding begins weeks before the ground visibly sinks — giving a false sense of stability on vertical-only monitors.</a:t>
            </a:r>
          </a:p>
          <a:p>
            <a:pPr>
              <a:spcBef>
                <a:spcPts val="700"/>
              </a:spcBef>
            </a:pPr>
            <a:r>
              <a:rPr sz="1600" b="1" dirty="0">
                <a:solidFill>
                  <a:srgbClr val="FF4C5E"/>
                </a:solidFill>
              </a:rPr>
              <a:t>▸ Wrong Metric  </a:t>
            </a:r>
            <a:r>
              <a:rPr sz="1600" dirty="0">
                <a:solidFill>
                  <a:srgbClr val="8E9EB0"/>
                </a:solidFill>
              </a:rPr>
              <a:t>A sensor measuring only depth cannot distinguish whether a mine wall is sliding laterally outward or simply compressing downward.</a:t>
            </a:r>
          </a:p>
          <a:p>
            <a:pPr>
              <a:spcBef>
                <a:spcPts val="700"/>
              </a:spcBef>
            </a:pPr>
            <a:r>
              <a:rPr sz="1600" b="1" dirty="0">
                <a:solidFill>
                  <a:srgbClr val="FF4C5E"/>
                </a:solidFill>
              </a:rPr>
              <a:t>▸ Late Warning  </a:t>
            </a:r>
            <a:r>
              <a:rPr sz="1600" dirty="0">
                <a:solidFill>
                  <a:srgbClr val="8E9EB0"/>
                </a:solidFill>
              </a:rPr>
              <a:t>By the time vertical settlement becomes measurable, the lateral failure has already progressed to a point where intervention is difficult.</a:t>
            </a:r>
          </a:p>
          <a:p>
            <a:pPr>
              <a:spcBef>
                <a:spcPts val="700"/>
              </a:spcBef>
            </a:pPr>
            <a:r>
              <a:rPr sz="1600" b="1" dirty="0">
                <a:solidFill>
                  <a:srgbClr val="FF4C5E"/>
                </a:solidFill>
              </a:rPr>
              <a:t>▸ Industry Gap  </a:t>
            </a:r>
            <a:r>
              <a:rPr sz="1600" dirty="0">
                <a:solidFill>
                  <a:srgbClr val="8E9EB0"/>
                </a:solidFill>
              </a:rPr>
              <a:t>Most traditional InSAR tools report only vertical or line-of-sight displacement, omitting the critical East–West component entirely.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623560" cy="4572000"/>
          </a:xfrm>
          <a:prstGeom prst="rect">
            <a:avLst/>
          </a:prstGeom>
          <a:solidFill>
            <a:srgbClr val="131E35"/>
          </a:solidFill>
          <a:ln w="2286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176272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00B4FF"/>
                </a:solidFill>
              </a:rPr>
              <a:t>MineGuard</a:t>
            </a:r>
            <a:r>
              <a:rPr sz="2000" b="1" i="0" dirty="0">
                <a:solidFill>
                  <a:srgbClr val="00B4FF"/>
                </a:solidFill>
              </a:rPr>
              <a:t> — Horizontal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80360"/>
            <a:ext cx="5212080" cy="3562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 b="1" dirty="0">
                <a:solidFill>
                  <a:srgbClr val="00B4FF"/>
                </a:solidFill>
              </a:rPr>
              <a:t>▸ True E–W Measurement  </a:t>
            </a:r>
            <a:r>
              <a:rPr sz="1600" dirty="0">
                <a:solidFill>
                  <a:srgbClr val="FFFFFF"/>
                </a:solidFill>
              </a:rPr>
              <a:t>Combines Ascending and Descending satellite passes to mathematically isolate the pure East–West component of ground movement.</a:t>
            </a:r>
          </a:p>
          <a:p>
            <a:pPr>
              <a:spcBef>
                <a:spcPts val="700"/>
              </a:spcBef>
            </a:pPr>
            <a:r>
              <a:rPr sz="1600" b="1" dirty="0">
                <a:solidFill>
                  <a:srgbClr val="00B4FF"/>
                </a:solidFill>
              </a:rPr>
              <a:t>▸ mm-Level Precision  </a:t>
            </a:r>
            <a:r>
              <a:rPr sz="1600" dirty="0">
                <a:solidFill>
                  <a:srgbClr val="FFFFFF"/>
                </a:solidFill>
              </a:rPr>
              <a:t>Sentinel-1 C-band radar resolves displacements as small as 1–3 mm, detecting lateral shifts months before they become dangerous.</a:t>
            </a:r>
          </a:p>
          <a:p>
            <a:pPr>
              <a:spcBef>
                <a:spcPts val="700"/>
              </a:spcBef>
            </a:pPr>
            <a:r>
              <a:rPr sz="1600" b="1" dirty="0">
                <a:solidFill>
                  <a:srgbClr val="00B4FF"/>
                </a:solidFill>
              </a:rPr>
              <a:t>▸ Early Intervention  </a:t>
            </a:r>
            <a:r>
              <a:rPr sz="1600" dirty="0">
                <a:solidFill>
                  <a:srgbClr val="FFFFFF"/>
                </a:solidFill>
              </a:rPr>
              <a:t>Knowing the direction of movement allows geotechnical teams to install targeted support structures before a critical failure event.</a:t>
            </a:r>
          </a:p>
          <a:p>
            <a:pPr>
              <a:spcBef>
                <a:spcPts val="700"/>
              </a:spcBef>
            </a:pPr>
            <a:r>
              <a:rPr sz="1600" b="1" dirty="0">
                <a:solidFill>
                  <a:srgbClr val="00B4FF"/>
                </a:solidFill>
              </a:rPr>
              <a:t>▸ Proven Science  </a:t>
            </a:r>
            <a:r>
              <a:rPr sz="1600" dirty="0">
                <a:solidFill>
                  <a:srgbClr val="FFFFFF"/>
                </a:solidFill>
              </a:rPr>
              <a:t>2D ASC+DSC InSAR decomposition is the standard method used in professional mine subsidence monitoring worldwide (e.g., Anglo American, BHP site surveys).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PRODUCT DETAIL  ›  3D VISUALISATION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</a:rPr>
              <a:t>Displacement Mapped into 3D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 err="1">
                <a:solidFill>
                  <a:srgbClr val="8E9EB0"/>
                </a:solidFill>
              </a:rPr>
              <a:t>MineGuard</a:t>
            </a:r>
            <a:r>
              <a:rPr sz="1600" b="0" i="1" dirty="0">
                <a:solidFill>
                  <a:srgbClr val="8E9EB0"/>
                </a:solidFill>
              </a:rPr>
              <a:t> plots every hotspot's complete deformation history on three orthogonal axes — so engineers can see exactly how, where, and when each point is moving.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011680"/>
            <a:ext cx="11365992" cy="1371600"/>
          </a:xfrm>
          <a:prstGeom prst="rect">
            <a:avLst/>
          </a:prstGeom>
          <a:solidFill>
            <a:srgbClr val="131E35"/>
          </a:solidFill>
          <a:ln w="1524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2011680"/>
            <a:ext cx="201168" cy="13716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B4FF"/>
                </a:solidFill>
              </a:rPr>
              <a:t>X  —  HORIZONTAL (East ↔ West)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14600"/>
            <a:ext cx="8686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</a:rPr>
              <a:t>Measures true East–West ground displacement in </a:t>
            </a:r>
            <a:r>
              <a:rPr sz="1600" b="0" i="0" dirty="0" err="1">
                <a:solidFill>
                  <a:srgbClr val="FFFFFF"/>
                </a:solidFill>
              </a:rPr>
              <a:t>millimetres</a:t>
            </a:r>
            <a:r>
              <a:rPr sz="1600" b="0" i="0" dirty="0">
                <a:solidFill>
                  <a:srgbClr val="FFFFFF"/>
                </a:solidFill>
              </a:rPr>
              <a:t> per epoch.  |  Positive (+) means the ground moved Eastward. Negative (−) means Westward sliding.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452" y="3041496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8E9EB0"/>
                </a:solidFill>
              </a:rPr>
              <a:t>↳ Example: P2 drifted −283 mm westward by 2021 — the strongest lateral movement on site.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520440"/>
            <a:ext cx="11365992" cy="1371600"/>
          </a:xfrm>
          <a:prstGeom prst="rect">
            <a:avLst/>
          </a:prstGeom>
          <a:solidFill>
            <a:srgbClr val="131E35"/>
          </a:solidFill>
          <a:ln w="1524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3520440"/>
            <a:ext cx="201168" cy="13716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361188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D353"/>
                </a:solidFill>
              </a:rPr>
              <a:t>Y  —  VERTICAL (Subsidence)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023360"/>
            <a:ext cx="8686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</a:rPr>
              <a:t>Measures true vertical ground settlement in </a:t>
            </a:r>
            <a:r>
              <a:rPr sz="1600" b="0" i="0" dirty="0" err="1">
                <a:solidFill>
                  <a:srgbClr val="FFFFFF"/>
                </a:solidFill>
              </a:rPr>
              <a:t>millimetres</a:t>
            </a:r>
            <a:r>
              <a:rPr sz="1600" b="0" i="0" dirty="0">
                <a:solidFill>
                  <a:srgbClr val="FFFFFF"/>
                </a:solidFill>
              </a:rPr>
              <a:t> (downward is negative).  |  Derived from the same ASC+DSC decomposition as horizontal — both axes share one calculation.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673" y="4541338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8E9EB0"/>
                </a:solidFill>
              </a:rPr>
              <a:t>↳ Example: P1 settled −159 mm vertically over 4 years — moderate but steady subsidence.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029200"/>
            <a:ext cx="11365992" cy="1371600"/>
          </a:xfrm>
          <a:prstGeom prst="rect">
            <a:avLst/>
          </a:prstGeom>
          <a:solidFill>
            <a:srgbClr val="131E35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5029200"/>
            <a:ext cx="201168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512064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Z  —  TIME  (Year Axis)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532120"/>
            <a:ext cx="8686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</a:rPr>
              <a:t>The temporal axis converts calendar dates to decimal years (e.g., June 2018 = 2018.42).  |  Time is shown continuously so acceleration or deceleration of movement is immediately visible.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452" y="6035932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8E9EB0"/>
                </a:solidFill>
              </a:rPr>
              <a:t>↳ Example: P5 was stable until 2018 then showed a sudden −210 mm lateral event in one epoch.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446520"/>
            <a:ext cx="11365992" cy="256032"/>
          </a:xfrm>
          <a:prstGeom prst="rect">
            <a:avLst/>
          </a:prstGeom>
          <a:solidFill>
            <a:srgbClr val="13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FF"/>
                </a:solidFill>
              </a:rPr>
              <a:t>PRODUCT DETAIL  ›  HOW WE MEASURE HORIZONTAL DISPLACEMENT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Two Satellite Passes. One Precise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11338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8E9EB0"/>
                </a:solidFill>
              </a:rPr>
              <a:t>A single satellite pass measures ground movement only along its line-of-sight — a mixture of horizontal and vertical. Two opposite-direction passes let us mathematically separate both components.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03120"/>
            <a:ext cx="4297680" cy="4480560"/>
          </a:xfrm>
          <a:prstGeom prst="rect">
            <a:avLst/>
          </a:prstGeom>
          <a:solidFill>
            <a:srgbClr val="131E35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267712"/>
            <a:ext cx="3931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4FF"/>
                </a:solidFill>
              </a:rPr>
              <a:t>  Ascending Pass (ASC)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16352"/>
            <a:ext cx="3931920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 b="1" dirty="0">
                <a:solidFill>
                  <a:srgbClr val="00B4FF"/>
                </a:solidFill>
              </a:rPr>
              <a:t>▸ Direction  </a:t>
            </a:r>
            <a:r>
              <a:rPr sz="1600" dirty="0">
                <a:solidFill>
                  <a:srgbClr val="FFFFFF"/>
                </a:solidFill>
              </a:rPr>
              <a:t>Satellite flies Northward along an inclined orbit track.</a:t>
            </a:r>
          </a:p>
          <a:p>
            <a:pPr>
              <a:spcBef>
                <a:spcPts val="700"/>
              </a:spcBef>
            </a:pPr>
            <a:r>
              <a:rPr sz="1600" b="1" dirty="0">
                <a:solidFill>
                  <a:srgbClr val="00B4FF"/>
                </a:solidFill>
              </a:rPr>
              <a:t>▸ Look angle  </a:t>
            </a:r>
            <a:r>
              <a:rPr sz="1600" dirty="0">
                <a:solidFill>
                  <a:srgbClr val="FFFFFF"/>
                </a:solidFill>
              </a:rPr>
              <a:t>Radar beam points East toward ground, ~40° from vertical.</a:t>
            </a:r>
          </a:p>
          <a:p>
            <a:pPr>
              <a:spcBef>
                <a:spcPts val="700"/>
              </a:spcBef>
            </a:pPr>
            <a:r>
              <a:rPr sz="1600" b="1" dirty="0">
                <a:solidFill>
                  <a:srgbClr val="00B4FF"/>
                </a:solidFill>
              </a:rPr>
              <a:t>▸ Measures  </a:t>
            </a:r>
            <a:r>
              <a:rPr sz="1600" dirty="0">
                <a:solidFill>
                  <a:srgbClr val="FFFFFF"/>
                </a:solidFill>
              </a:rPr>
              <a:t>LOS displacement = blend of eastward shift + vertical settlement.</a:t>
            </a:r>
          </a:p>
          <a:p>
            <a:pPr>
              <a:spcBef>
                <a:spcPts val="700"/>
              </a:spcBef>
            </a:pPr>
            <a:r>
              <a:rPr sz="1600" b="1" dirty="0">
                <a:solidFill>
                  <a:srgbClr val="00B4FF"/>
                </a:solidFill>
              </a:rPr>
              <a:t>▸ Coverage  </a:t>
            </a:r>
            <a:r>
              <a:rPr sz="1600" dirty="0">
                <a:solidFill>
                  <a:srgbClr val="FFFFFF"/>
                </a:solidFill>
              </a:rPr>
              <a:t>Four ASC interferometric pairs acquired over 2017–2021.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2103120"/>
            <a:ext cx="4297680" cy="4480560"/>
          </a:xfrm>
          <a:prstGeom prst="rect">
            <a:avLst/>
          </a:prstGeom>
          <a:solidFill>
            <a:srgbClr val="131E35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0" y="2267712"/>
            <a:ext cx="3931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A623"/>
                </a:solidFill>
              </a:rPr>
              <a:t>Descending Pass (DSC)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816352"/>
            <a:ext cx="3931920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 b="1">
                <a:solidFill>
                  <a:srgbClr val="F5A623"/>
                </a:solidFill>
              </a:rPr>
              <a:t>▸ Direction  </a:t>
            </a:r>
            <a:r>
              <a:rPr sz="1600">
                <a:solidFill>
                  <a:srgbClr val="FFFFFF"/>
                </a:solidFill>
              </a:rPr>
              <a:t>Satellite flies Southward — the opposite track to ASC.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rgbClr val="F5A623"/>
                </a:solidFill>
              </a:rPr>
              <a:t>▸ Look angle  </a:t>
            </a:r>
            <a:r>
              <a:rPr sz="1600">
                <a:solidFill>
                  <a:srgbClr val="FFFFFF"/>
                </a:solidFill>
              </a:rPr>
              <a:t>Radar beam points West toward ground, ~35° from vertical.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rgbClr val="F5A623"/>
                </a:solidFill>
              </a:rPr>
              <a:t>▸ Measures  </a:t>
            </a:r>
            <a:r>
              <a:rPr sz="1600">
                <a:solidFill>
                  <a:srgbClr val="FFFFFF"/>
                </a:solidFill>
              </a:rPr>
              <a:t>LOS displacement from the opposite side — the other equation.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rgbClr val="F5A623"/>
                </a:solidFill>
              </a:rPr>
              <a:t>▸ Coverage  </a:t>
            </a:r>
            <a:r>
              <a:rPr sz="1600">
                <a:solidFill>
                  <a:srgbClr val="FFFFFF"/>
                </a:solidFill>
              </a:rPr>
              <a:t>Four DSC interferometric pairs matched within ≤12 days of ASC.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103120"/>
            <a:ext cx="2084831" cy="4480560"/>
          </a:xfrm>
          <a:prstGeom prst="rect">
            <a:avLst/>
          </a:prstGeom>
          <a:solidFill>
            <a:srgbClr val="131E35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21240" y="2304288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39D353"/>
                </a:solidFill>
              </a:rP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2834640"/>
            <a:ext cx="1828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39D353"/>
                </a:solidFill>
              </a:rPr>
              <a:t>ASC
+
DSC
↓
True E/W
&amp;
Vertical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614219"/>
            <a:ext cx="11338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8E9EB0"/>
                </a:solidFill>
              </a:rPr>
              <a:t>Formula: </a:t>
            </a:r>
            <a:r>
              <a:rPr sz="1400" b="0" i="1" dirty="0" err="1">
                <a:solidFill>
                  <a:srgbClr val="8E9EB0"/>
                </a:solidFill>
              </a:rPr>
              <a:t>d_LOS</a:t>
            </a:r>
            <a:r>
              <a:rPr sz="1400" b="0" i="1" dirty="0">
                <a:solidFill>
                  <a:srgbClr val="8E9EB0"/>
                </a:solidFill>
              </a:rPr>
              <a:t> = −sin(θ)·cos(α)·</a:t>
            </a:r>
            <a:r>
              <a:rPr sz="1400" b="0" i="1" dirty="0" err="1">
                <a:solidFill>
                  <a:srgbClr val="8E9EB0"/>
                </a:solidFill>
              </a:rPr>
              <a:t>d_E</a:t>
            </a:r>
            <a:r>
              <a:rPr sz="1400" b="0" i="1" dirty="0">
                <a:solidFill>
                  <a:srgbClr val="8E9EB0"/>
                </a:solidFill>
              </a:rPr>
              <a:t> + cos(θ)·</a:t>
            </a:r>
            <a:r>
              <a:rPr sz="1400" b="0" i="1" dirty="0" err="1">
                <a:solidFill>
                  <a:srgbClr val="8E9EB0"/>
                </a:solidFill>
              </a:rPr>
              <a:t>d_U</a:t>
            </a:r>
            <a:r>
              <a:rPr sz="1400" b="0" i="1" dirty="0">
                <a:solidFill>
                  <a:srgbClr val="8E9EB0"/>
                </a:solidFill>
              </a:rPr>
              <a:t>  — solved simultaneously for ASC &amp; DSC using Cramer's Rule.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WORK DONE  › 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</a:t>
            </a: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MineGuard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Processes Satellite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1338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8E9E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Five sequential processing stages transform raw radar images into </a:t>
            </a:r>
            <a:r>
              <a:rPr kumimoji="0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8E9E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millimetre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8E9E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-precision ground displacement measurements and an automated risk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6424" y="1847088"/>
            <a:ext cx="2286000" cy="4800600"/>
          </a:xfrm>
          <a:prstGeom prst="rect">
            <a:avLst/>
          </a:prstGeom>
          <a:solidFill>
            <a:srgbClr val="131E35"/>
          </a:solidFill>
          <a:ln w="1524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06424" y="1847088"/>
            <a:ext cx="2286000" cy="43891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97864" y="1883664"/>
            <a:ext cx="2139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864" y="2359152"/>
            <a:ext cx="2103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B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7864" y="2999232"/>
            <a:ext cx="2121408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0B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Source 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Free Sentinel-1 C-band SAR images retrieved from the ESA Copernicus Data Space Ecosystem (CDSE) via the OData REST API.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0B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Selection 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Both Ascending (ASC) and Descending (DSC) orbit passes are queried for the user-defined ROI, timeframe, and IW-SLC product type.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0B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Pairs 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are automatically matched into interferometric pairs within a ≤12-day temporal baseline to maintain coherence.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1176" y="3977639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E9E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38728" y="1847088"/>
            <a:ext cx="2286000" cy="4800600"/>
          </a:xfrm>
          <a:prstGeom prst="rect">
            <a:avLst/>
          </a:prstGeom>
          <a:solidFill>
            <a:srgbClr val="131E35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538728" y="1847088"/>
            <a:ext cx="2286000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30168" y="1883664"/>
            <a:ext cx="2139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359152"/>
            <a:ext cx="2103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InSAR Pre-Processing (SNAP)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999232"/>
            <a:ext cx="2121408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Co-registration 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Master and slave SLC images are precisely aligned at sub-pixel accuracy using a cross-correlation-based co-registration graph in ESA SNAP.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Interferogram 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difference between the two acquisitions is computed; flat-earth and topographic phase are removed using a DEM.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Filtering + Unwrapping 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Goldstein adaptive phase filter reduces noise; Snaphu phase unwrapping converts wrapped phase (−π to π) to absolute phase.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3977639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E9E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71032" y="1847088"/>
            <a:ext cx="2286000" cy="4800600"/>
          </a:xfrm>
          <a:prstGeom prst="rect">
            <a:avLst/>
          </a:prstGeom>
          <a:solidFill>
            <a:srgbClr val="131E35"/>
          </a:solidFill>
          <a:ln w="1524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71032" y="1847088"/>
            <a:ext cx="2286000" cy="43891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44184" y="1883664"/>
            <a:ext cx="2139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0</a:t>
            </a:r>
            <a:r>
              <a:rPr lang="en-IN" sz="1400" b="1" dirty="0">
                <a:solidFill>
                  <a:srgbClr val="FFFFFF"/>
                </a:solidFill>
                <a:latin typeface="Calibri"/>
              </a:rPr>
              <a:t>3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62472" y="2359152"/>
            <a:ext cx="2103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sz="1400" b="1" dirty="0">
                <a:solidFill>
                  <a:srgbClr val="FF4C5E"/>
                </a:solidFill>
              </a:rPr>
              <a:t>2D ASC+DSC Decomposition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2999232"/>
            <a:ext cx="2121408" cy="3359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500"/>
              </a:spcBef>
              <a:defRPr/>
            </a:pPr>
            <a:r>
              <a:rPr lang="en-US" sz="1200" b="1" dirty="0">
                <a:solidFill>
                  <a:srgbClr val="FF4C5E"/>
                </a:solidFill>
              </a:rPr>
              <a:t>▸ System  </a:t>
            </a:r>
            <a:r>
              <a:rPr lang="en-US" sz="1200" dirty="0">
                <a:solidFill>
                  <a:srgbClr val="FFFFFF"/>
                </a:solidFill>
              </a:rPr>
              <a:t>One ASC LOS and one matched DSC LOS measurement form a 2×2 linear system: </a:t>
            </a:r>
            <a:r>
              <a:rPr lang="en-US" sz="1200" dirty="0" err="1">
                <a:solidFill>
                  <a:srgbClr val="FFFFFF"/>
                </a:solidFill>
              </a:rPr>
              <a:t>d_LOS</a:t>
            </a:r>
            <a:r>
              <a:rPr lang="en-US" sz="1200" dirty="0">
                <a:solidFill>
                  <a:srgbClr val="FFFFFF"/>
                </a:solidFill>
              </a:rPr>
              <a:t> = −sin(θ)cos(α)·</a:t>
            </a:r>
            <a:r>
              <a:rPr lang="en-US" sz="1200" dirty="0" err="1">
                <a:solidFill>
                  <a:srgbClr val="FFFFFF"/>
                </a:solidFill>
              </a:rPr>
              <a:t>d_E</a:t>
            </a:r>
            <a:r>
              <a:rPr lang="en-US" sz="1200" dirty="0">
                <a:solidFill>
                  <a:srgbClr val="FFFFFF"/>
                </a:solidFill>
              </a:rPr>
              <a:t> + cos(θ)·</a:t>
            </a:r>
            <a:r>
              <a:rPr lang="en-US" sz="1200" dirty="0" err="1">
                <a:solidFill>
                  <a:srgbClr val="FFFFFF"/>
                </a:solidFill>
              </a:rPr>
              <a:t>d_U</a:t>
            </a:r>
            <a:r>
              <a:rPr lang="en-US" sz="1200" dirty="0">
                <a:solidFill>
                  <a:srgbClr val="FFFFFF"/>
                </a:solidFill>
              </a:rPr>
              <a:t>.</a:t>
            </a:r>
          </a:p>
          <a:p>
            <a:pPr lvl="0">
              <a:spcBef>
                <a:spcPts val="500"/>
              </a:spcBef>
              <a:defRPr/>
            </a:pPr>
            <a:r>
              <a:rPr lang="en-US" sz="1200" b="1" dirty="0">
                <a:solidFill>
                  <a:srgbClr val="FF4C5E"/>
                </a:solidFill>
              </a:rPr>
              <a:t>▸ Solution  </a:t>
            </a:r>
            <a:r>
              <a:rPr lang="en-US" sz="1200" dirty="0">
                <a:solidFill>
                  <a:srgbClr val="FFFFFF"/>
                </a:solidFill>
              </a:rPr>
              <a:t>The system is solved analytically using Cramer's Rule to yield true East–West (</a:t>
            </a:r>
            <a:r>
              <a:rPr lang="en-US" sz="1200" dirty="0" err="1">
                <a:solidFill>
                  <a:srgbClr val="FFFFFF"/>
                </a:solidFill>
              </a:rPr>
              <a:t>d_E</a:t>
            </a:r>
            <a:r>
              <a:rPr lang="en-US" sz="1200" dirty="0">
                <a:solidFill>
                  <a:srgbClr val="FFFFFF"/>
                </a:solidFill>
              </a:rPr>
              <a:t>) and true Vertical (</a:t>
            </a:r>
            <a:r>
              <a:rPr lang="en-US" sz="1200" dirty="0" err="1">
                <a:solidFill>
                  <a:srgbClr val="FFFFFF"/>
                </a:solidFill>
              </a:rPr>
              <a:t>d_U</a:t>
            </a:r>
            <a:r>
              <a:rPr lang="en-US" sz="1200" dirty="0">
                <a:solidFill>
                  <a:srgbClr val="FFFFFF"/>
                </a:solidFill>
              </a:rPr>
              <a:t>) displacement per epoch.</a:t>
            </a:r>
          </a:p>
          <a:p>
            <a:pPr lvl="0">
              <a:spcBef>
                <a:spcPts val="500"/>
              </a:spcBef>
              <a:defRPr/>
            </a:pPr>
            <a:r>
              <a:rPr lang="en-US" sz="1200" b="1" dirty="0">
                <a:solidFill>
                  <a:srgbClr val="FF4C5E"/>
                </a:solidFill>
              </a:rPr>
              <a:t>▸ Output  </a:t>
            </a:r>
            <a:r>
              <a:rPr lang="en-US" sz="1200" dirty="0">
                <a:solidFill>
                  <a:srgbClr val="FFFFFF"/>
                </a:solidFill>
              </a:rPr>
              <a:t>Cumulative E/W and Vertical time-series are computed by summing incremental epoch values from the start of the monitoring period.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783" y="3977639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E9E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03336" y="1847088"/>
            <a:ext cx="2286000" cy="4800600"/>
          </a:xfrm>
          <a:prstGeom prst="rect">
            <a:avLst/>
          </a:prstGeom>
          <a:solidFill>
            <a:srgbClr val="131E35"/>
          </a:solidFill>
          <a:ln w="15240">
            <a:solidFill>
              <a:srgbClr val="FF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403336" y="1847088"/>
            <a:ext cx="2286000" cy="438912"/>
          </a:xfrm>
          <a:prstGeom prst="rect">
            <a:avLst/>
          </a:prstGeom>
          <a:solidFill>
            <a:srgbClr val="FF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76488" y="1883664"/>
            <a:ext cx="2139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0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94776" y="2359152"/>
            <a:ext cx="2103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sz="1400" b="1">
                <a:solidFill>
                  <a:srgbClr val="B3E5FC"/>
                </a:solidFill>
              </a:rPr>
              <a:t>Risk Classification &amp; Reporting</a:t>
            </a:r>
            <a:endParaRPr lang="en-IN" sz="1400" b="1" dirty="0">
              <a:solidFill>
                <a:srgbClr val="B3E5FC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94776" y="2999232"/>
            <a:ext cx="2121408" cy="3359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500"/>
              </a:spcBef>
              <a:defRPr/>
            </a:pPr>
            <a:r>
              <a:rPr lang="en-US" sz="1200" b="1">
                <a:solidFill>
                  <a:srgbClr val="B3E5FC"/>
                </a:solidFill>
              </a:rPr>
              <a:t>▸ Thresholds  </a:t>
            </a:r>
            <a:r>
              <a:rPr lang="en-US" sz="1200">
                <a:solidFill>
                  <a:srgbClr val="FFFFFF"/>
                </a:solidFill>
              </a:rPr>
              <a:t>Cumulative displacement is compared against geotechnical severity bands: LOW &lt; 30 mm | MEDIUM &lt; 80 mm | HIGH &lt; 150 mm | CRITICAL ≥ 150 mm.</a:t>
            </a:r>
          </a:p>
          <a:p>
            <a:pPr lvl="0">
              <a:spcBef>
                <a:spcPts val="500"/>
              </a:spcBef>
              <a:defRPr/>
            </a:pPr>
            <a:r>
              <a:rPr lang="en-US" sz="1200" b="1">
                <a:solidFill>
                  <a:srgbClr val="B3E5FC"/>
                </a:solidFill>
              </a:rPr>
              <a:t>▸ Report  </a:t>
            </a:r>
            <a:r>
              <a:rPr lang="en-US" sz="1200">
                <a:solidFill>
                  <a:srgbClr val="FFFFFF"/>
                </a:solidFill>
              </a:rPr>
              <a:t>An automated natural-language executive summary and colour-coded risk table are generated per hotspot without manual intervention.</a:t>
            </a:r>
          </a:p>
          <a:p>
            <a:pPr lvl="0">
              <a:spcBef>
                <a:spcPts val="500"/>
              </a:spcBef>
              <a:defRPr/>
            </a:pPr>
            <a:r>
              <a:rPr lang="en-US" sz="1200" b="1">
                <a:solidFill>
                  <a:srgbClr val="B3E5FC"/>
                </a:solidFill>
              </a:rPr>
              <a:t>▸ Actions  </a:t>
            </a:r>
            <a:r>
              <a:rPr lang="en-US" sz="1200">
                <a:solidFill>
                  <a:srgbClr val="FFFFFF"/>
                </a:solidFill>
              </a:rPr>
              <a:t>Engineering recommendations (e.g., install inclinometers, evacuate zone) are ranked and output in order of severity.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848088" y="3977639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E9E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8E9E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9D353"/>
                </a:solidFill>
              </a:rPr>
              <a:t>WORK DONE  ›  COMPLETE APPLICATION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8 Pages. One Seamless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11338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8E9EB0"/>
                </a:solidFill>
              </a:rPr>
              <a:t>The app guides the engineer through eight sequential pages — from mine selection to automated risk report — each page building on the output of the one before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2743200" cy="2286000"/>
          </a:xfrm>
          <a:prstGeom prst="rect">
            <a:avLst/>
          </a:prstGeom>
          <a:solidFill>
            <a:srgbClr val="131E35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2103120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415135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Search Mine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599" y="2836414"/>
            <a:ext cx="2560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8E9EB0"/>
                </a:solidFill>
              </a:rPr>
              <a:t>Type mine name → global geocoding → satellite map </a:t>
            </a:r>
            <a:r>
              <a:rPr sz="1600" b="0" i="0" dirty="0" err="1">
                <a:solidFill>
                  <a:srgbClr val="8E9EB0"/>
                </a:solidFill>
              </a:rPr>
              <a:t>centres</a:t>
            </a:r>
            <a:r>
              <a:rPr sz="1600" b="0" i="0" dirty="0">
                <a:solidFill>
                  <a:srgbClr val="8E9EB0"/>
                </a:solidFill>
              </a:rPr>
              <a:t> automatically.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39" y="29718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EB0"/>
                </a:solidFill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2011680"/>
            <a:ext cx="2743200" cy="2286000"/>
          </a:xfrm>
          <a:prstGeom prst="rect">
            <a:avLst/>
          </a:prstGeom>
          <a:solidFill>
            <a:srgbClr val="131E35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01568" y="2103120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415135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Crop 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2119" y="2836414"/>
            <a:ext cx="2560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E9EB0"/>
                </a:solidFill>
              </a:rPr>
              <a:t>Draw a bounding box on the map to define the exact monitoring zone.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9718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EB0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2011680"/>
            <a:ext cx="2743200" cy="2286000"/>
          </a:xfrm>
          <a:prstGeom prst="rect">
            <a:avLst/>
          </a:prstGeom>
          <a:solidFill>
            <a:srgbClr val="131E35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2103120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415135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639" y="2836414"/>
            <a:ext cx="2560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E9EB0"/>
                </a:solidFill>
              </a:rPr>
              <a:t>Select start/end year + frequency. App estimates data size &amp; compute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EB0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2011680"/>
            <a:ext cx="2743200" cy="2286000"/>
          </a:xfrm>
          <a:prstGeom prst="rect">
            <a:avLst/>
          </a:prstGeom>
          <a:solidFill>
            <a:srgbClr val="131E35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36607" y="2103120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7" y="2415135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Data Download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7" y="2836414"/>
            <a:ext cx="2560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E9EB0"/>
                </a:solidFill>
              </a:rPr>
              <a:t>App queries ESA Copernicus and downloads Sentinel-1 SLC files automatically.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44805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9EB0"/>
                </a:solidFill>
              </a:rPr>
              <a:t>↙  continues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709160"/>
            <a:ext cx="2743200" cy="1938528"/>
          </a:xfrm>
          <a:prstGeom prst="rect">
            <a:avLst/>
          </a:prstGeom>
          <a:solidFill>
            <a:srgbClr val="131E35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4791456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5085183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Processing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5451598"/>
            <a:ext cx="25603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8E9EB0"/>
                </a:solidFill>
              </a:rPr>
              <a:t>SNAP engine generates interferograms. Live progress dashboard updates every 3s.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39" y="55321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EB0"/>
                </a:solidFill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39" y="4709160"/>
            <a:ext cx="2743200" cy="1938528"/>
          </a:xfrm>
          <a:prstGeom prst="rect">
            <a:avLst/>
          </a:prstGeom>
          <a:solidFill>
            <a:srgbClr val="131E35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01568" y="4791456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1568" y="5085183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Pick Hotspots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5451598"/>
            <a:ext cx="2560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E9EB0"/>
                </a:solidFill>
              </a:rPr>
              <a:t>Click up to 10 danger zones on the satellite map. Coordinates sent to engine.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59" y="55321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EB0"/>
                </a:solidFill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59" y="4709160"/>
            <a:ext cx="2743200" cy="1938528"/>
          </a:xfrm>
          <a:prstGeom prst="rect">
            <a:avLst/>
          </a:prstGeom>
          <a:solidFill>
            <a:srgbClr val="131E35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19088" y="4791456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D353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5085183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5451598"/>
            <a:ext cx="2560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E9EB0"/>
                </a:solidFill>
              </a:rPr>
              <a:t>Three scientific plots: E/W drift, LOS displacement, and 3D trajectory.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55321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EB0"/>
                </a:solidFill>
              </a:rPr>
              <a:t>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0" y="4709160"/>
            <a:ext cx="2743200" cy="1938528"/>
          </a:xfrm>
          <a:prstGeom prst="rect">
            <a:avLst/>
          </a:prstGeom>
          <a:solidFill>
            <a:srgbClr val="131E35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36607" y="4791456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D353"/>
                </a:solidFill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36607" y="5085183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Risk Report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36607" y="5451598"/>
            <a:ext cx="2560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E9EB0"/>
                </a:solidFill>
              </a:rPr>
              <a:t>Automated geotechnical summary with risk ratings and engineering actions.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8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FF"/>
                </a:solidFill>
              </a:rPr>
              <a:t>WORK DONE  ›  PAGE 1 &amp; PAGE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3891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1: Find Your Mine   |   Step 2: Define the 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70432"/>
            <a:ext cx="11521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8E9EB0"/>
                </a:solidFill>
              </a:rPr>
              <a:t>The first two pages establish where and what to monitor — transforming a mine name into precise geographical coordinates.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19072"/>
            <a:ext cx="5669280" cy="2907792"/>
          </a:xfrm>
          <a:prstGeom prst="rect">
            <a:avLst/>
          </a:prstGeom>
          <a:solidFill>
            <a:srgbClr val="060D17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3192" y="1792224"/>
            <a:ext cx="5522976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663440"/>
            <a:ext cx="5669280" cy="34747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469087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PAGE 1  —  Search Mine  (Entry Point)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047488"/>
            <a:ext cx="5669280" cy="1627632"/>
          </a:xfrm>
          <a:prstGeom prst="rect">
            <a:avLst/>
          </a:prstGeom>
          <a:solidFill>
            <a:srgbClr val="131E35"/>
          </a:solidFill>
          <a:ln w="889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5093208"/>
            <a:ext cx="548640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 dirty="0">
                <a:solidFill>
                  <a:srgbClr val="00B4FF"/>
                </a:solidFill>
              </a:rPr>
              <a:t>▸ What the user does  </a:t>
            </a:r>
            <a:r>
              <a:rPr sz="1100" dirty="0">
                <a:solidFill>
                  <a:srgbClr val="FFFFFF"/>
                </a:solidFill>
              </a:rPr>
              <a:t>Types the name of the mine (e.g., 'Jharia Coal Field') into a search bar.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00B4FF"/>
                </a:solidFill>
              </a:rPr>
              <a:t>▸ What happens  </a:t>
            </a:r>
            <a:r>
              <a:rPr sz="1100" dirty="0">
                <a:solidFill>
                  <a:srgbClr val="FFFFFF"/>
                </a:solidFill>
              </a:rPr>
              <a:t>The </a:t>
            </a:r>
            <a:r>
              <a:rPr sz="1100" dirty="0" err="1">
                <a:solidFill>
                  <a:srgbClr val="FFFFFF"/>
                </a:solidFill>
              </a:rPr>
              <a:t>Nominatim</a:t>
            </a:r>
            <a:r>
              <a:rPr sz="1100" dirty="0">
                <a:solidFill>
                  <a:srgbClr val="FFFFFF"/>
                </a:solidFill>
              </a:rPr>
              <a:t> OpenStreetMap API geocodes the name in real-time and returns GPS coordinates as the user types — no manual </a:t>
            </a:r>
            <a:r>
              <a:rPr sz="1100" dirty="0" err="1">
                <a:solidFill>
                  <a:srgbClr val="FFFFFF"/>
                </a:solidFill>
              </a:rPr>
              <a:t>lat</a:t>
            </a:r>
            <a:r>
              <a:rPr sz="1100" dirty="0">
                <a:solidFill>
                  <a:srgbClr val="FFFFFF"/>
                </a:solidFill>
              </a:rPr>
              <a:t>/</a:t>
            </a:r>
            <a:r>
              <a:rPr sz="1100" dirty="0" err="1">
                <a:solidFill>
                  <a:srgbClr val="FFFFFF"/>
                </a:solidFill>
              </a:rPr>
              <a:t>lon</a:t>
            </a:r>
            <a:r>
              <a:rPr sz="1100" dirty="0">
                <a:solidFill>
                  <a:srgbClr val="FFFFFF"/>
                </a:solidFill>
              </a:rPr>
              <a:t> entry needed.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00B4FF"/>
                </a:solidFill>
              </a:rPr>
              <a:t>▸ Map response  </a:t>
            </a:r>
            <a:r>
              <a:rPr sz="1100" dirty="0">
                <a:solidFill>
                  <a:srgbClr val="FFFFFF"/>
                </a:solidFill>
              </a:rPr>
              <a:t>An interactive Leaflet satellite map (Esri World Imagery) instantly </a:t>
            </a:r>
            <a:r>
              <a:rPr sz="1100" dirty="0" err="1">
                <a:solidFill>
                  <a:srgbClr val="FFFFFF"/>
                </a:solidFill>
              </a:rPr>
              <a:t>recentres</a:t>
            </a:r>
            <a:r>
              <a:rPr sz="1100" dirty="0">
                <a:solidFill>
                  <a:srgbClr val="FFFFFF"/>
                </a:solidFill>
              </a:rPr>
              <a:t> and zooms to the mine location for visual confirmation.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00B4FF"/>
                </a:solidFill>
              </a:rPr>
              <a:t>▸ Design note  </a:t>
            </a:r>
            <a:r>
              <a:rPr sz="1100" dirty="0">
                <a:solidFill>
                  <a:srgbClr val="FFFFFF"/>
                </a:solidFill>
              </a:rPr>
              <a:t>A live dropdown shows ranked results so users can distinguish between similarly named mines in different countries.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719072"/>
            <a:ext cx="5650992" cy="2907792"/>
          </a:xfrm>
          <a:prstGeom prst="rect">
            <a:avLst/>
          </a:prstGeom>
          <a:solidFill>
            <a:srgbClr val="060D17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792224"/>
            <a:ext cx="5504688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6208" y="4663440"/>
            <a:ext cx="5650992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469087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PAGE 2  —  Crop / Region of Interest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5047488"/>
            <a:ext cx="5650992" cy="1627632"/>
          </a:xfrm>
          <a:prstGeom prst="rect">
            <a:avLst/>
          </a:prstGeom>
          <a:solidFill>
            <a:srgbClr val="131E35"/>
          </a:solidFill>
          <a:ln w="889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5093208"/>
            <a:ext cx="5486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F5A623"/>
                </a:solidFill>
              </a:rPr>
              <a:t>▸ What the user does  </a:t>
            </a:r>
            <a:r>
              <a:rPr sz="1100">
                <a:solidFill>
                  <a:srgbClr val="FFFFFF"/>
                </a:solidFill>
              </a:rPr>
              <a:t>Clicks four corner points directly on the satellite map to draw a tight bounding box around the specific mine area to monitor.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5A623"/>
                </a:solidFill>
              </a:rPr>
              <a:t>▸ Alternative input  </a:t>
            </a:r>
            <a:r>
              <a:rPr sz="1100">
                <a:solidFill>
                  <a:srgbClr val="FFFFFF"/>
                </a:solidFill>
              </a:rPr>
              <a:t>Manual coordinate fields (North/South/East/West) allow precise numerical entry for users who already know their ROI boundaries.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5A623"/>
                </a:solidFill>
              </a:rPr>
              <a:t>▸ Why it matters  </a:t>
            </a:r>
            <a:r>
              <a:rPr sz="1100">
                <a:solidFill>
                  <a:srgbClr val="FFFFFF"/>
                </a:solidFill>
              </a:rPr>
              <a:t>The ROI boundary is sent to the backend for all satellite queries — a tight crop reduces download size by 60–80 % vs. a default wide area.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5A623"/>
                </a:solidFill>
              </a:rPr>
              <a:t>▸ Safety  </a:t>
            </a:r>
            <a:r>
              <a:rPr sz="1100">
                <a:solidFill>
                  <a:srgbClr val="FFFFFF"/>
                </a:solidFill>
              </a:rPr>
              <a:t>Coordinates are immediately validated and stored in React Context, persisting across all downstream pages without any re-entry.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9 / 13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1C98B38-DF77-D9EB-00E4-B65273052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82" y="1719071"/>
            <a:ext cx="5663237" cy="290779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D8C7A8C-F15B-716B-394B-1BB765775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719072"/>
            <a:ext cx="5632577" cy="29002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WORK DONE  ›  PAGE 3 &amp; PAGE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3891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Step 3: Set the Timeframe   |   Step 4: Retrieve Satellite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70432"/>
            <a:ext cx="11521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8E9EB0"/>
                </a:solidFill>
              </a:rPr>
              <a:t>These two pages configure the temporal scope of the analysis and automatically retrieve multi-gigabyte satellite datasets from ESA.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19072"/>
            <a:ext cx="5669280" cy="2907792"/>
          </a:xfrm>
          <a:prstGeom prst="rect">
            <a:avLst/>
          </a:prstGeom>
          <a:solidFill>
            <a:srgbClr val="060D17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3192" y="1792224"/>
            <a:ext cx="5522976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2670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E9EB0"/>
                </a:solidFill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3218687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00B4FF"/>
                </a:solidFill>
              </a:rPr>
              <a:t>Page 3 — Timeline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611879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E9EB0"/>
                </a:solidFill>
              </a:rPr>
              <a:t>Insert screenshot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663440"/>
            <a:ext cx="5669280" cy="34747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469087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PAGE 3  —  Timeline Configuration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047488"/>
            <a:ext cx="5669280" cy="1627632"/>
          </a:xfrm>
          <a:prstGeom prst="rect">
            <a:avLst/>
          </a:prstGeom>
          <a:solidFill>
            <a:srgbClr val="131E35"/>
          </a:solidFill>
          <a:ln w="889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5093208"/>
            <a:ext cx="5486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 dirty="0">
                <a:solidFill>
                  <a:srgbClr val="00B4FF"/>
                </a:solidFill>
              </a:rPr>
              <a:t>▸ What the user does  </a:t>
            </a:r>
            <a:r>
              <a:rPr sz="1100" dirty="0">
                <a:solidFill>
                  <a:srgbClr val="FFFFFF"/>
                </a:solidFill>
              </a:rPr>
              <a:t>Selects a Start Year, End Year, and analysis frequency (e.g., Monthly, Quarterly) using simple dropdown menus.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00B4FF"/>
                </a:solidFill>
              </a:rPr>
              <a:t>▸ Smart estimator  </a:t>
            </a:r>
            <a:r>
              <a:rPr sz="1100" dirty="0">
                <a:solidFill>
                  <a:srgbClr val="FFFFFF"/>
                </a:solidFill>
              </a:rPr>
              <a:t>The app dynamically calculates the total Sentinel-1 data volume (in GB) and estimated SNAP processing time for the chosen period.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00B4FF"/>
                </a:solidFill>
              </a:rPr>
              <a:t>▸ Value  </a:t>
            </a:r>
            <a:r>
              <a:rPr sz="1100" dirty="0">
                <a:solidFill>
                  <a:srgbClr val="FFFFFF"/>
                </a:solidFill>
              </a:rPr>
              <a:t>Engineers can budget bandwidth and compute time before committing — avoiding accidental 200 GB downloads on a slow connection.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00B4FF"/>
                </a:solidFill>
              </a:rPr>
              <a:t>▸ Output  </a:t>
            </a:r>
            <a:r>
              <a:rPr sz="1100" dirty="0">
                <a:solidFill>
                  <a:srgbClr val="FFFFFF"/>
                </a:solidFill>
              </a:rPr>
              <a:t>The selected timeframe is passed to the CDSE OData API query for building the interferometric pair schedule.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719072"/>
            <a:ext cx="5650992" cy="2907792"/>
          </a:xfrm>
          <a:prstGeom prst="rect">
            <a:avLst/>
          </a:prstGeom>
          <a:solidFill>
            <a:srgbClr val="060D17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792224"/>
            <a:ext cx="5504688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95944" y="2670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E9EB0"/>
                </a:solidFill>
              </a:rPr>
              <a:t>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218687"/>
            <a:ext cx="5468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39D353"/>
                </a:solidFill>
              </a:rPr>
              <a:t>Page 4 — Data Download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611879"/>
            <a:ext cx="5468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E9EB0"/>
                </a:solidFill>
              </a:rPr>
              <a:t>Insert screenshot here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4663440"/>
            <a:ext cx="5650992" cy="34747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469087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PAGE 4  —  Sentinel-1 Data Download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5047488"/>
            <a:ext cx="5650992" cy="1627632"/>
          </a:xfrm>
          <a:prstGeom prst="rect">
            <a:avLst/>
          </a:prstGeom>
          <a:solidFill>
            <a:srgbClr val="131E35"/>
          </a:solidFill>
          <a:ln w="889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5093208"/>
            <a:ext cx="5486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39D353"/>
                </a:solidFill>
              </a:rPr>
              <a:t>▸ What the user does  </a:t>
            </a:r>
            <a:r>
              <a:rPr sz="1100">
                <a:solidFill>
                  <a:srgbClr val="FFFFFF"/>
                </a:solidFill>
              </a:rPr>
              <a:t>Clicks 'Start Download'. The app queries the ESA Copernicus Data Space Ecosystem API and fetches matching Sentinel-1 SLC scenes.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39D353"/>
                </a:solidFill>
              </a:rPr>
              <a:t>▸ Background processing  </a:t>
            </a:r>
            <a:r>
              <a:rPr sz="1100">
                <a:solidFill>
                  <a:srgbClr val="FFFFFF"/>
                </a:solidFill>
              </a:rPr>
              <a:t>Downloads run asynchronously — the web UI remains fully responsive while 7 GB files transfer in the background.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39D353"/>
                </a:solidFill>
              </a:rPr>
              <a:t>▸ Local Directory Link  </a:t>
            </a:r>
            <a:r>
              <a:rPr sz="1100">
                <a:solidFill>
                  <a:srgbClr val="FFFFFF"/>
                </a:solidFill>
              </a:rPr>
              <a:t>Users who already have the SLC files saved locally can click 'Link Local Directory' to bypass downloading entirely — saving hours.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39D353"/>
                </a:solidFill>
              </a:rPr>
              <a:t>▸ Integrity check  </a:t>
            </a:r>
            <a:r>
              <a:rPr sz="1100">
                <a:solidFill>
                  <a:srgbClr val="FFFFFF"/>
                </a:solidFill>
              </a:rPr>
              <a:t>Each file is verified before the pipeline advances: if any file is corrupt or missing, the user is warned before processing begins.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10 / 13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4A3D46C-94F5-CEB3-1502-76C10B8E4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86" y="1719072"/>
            <a:ext cx="5659434" cy="283623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4024FAA-62AF-BA3A-CD9A-5DA2DA956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727148"/>
            <a:ext cx="5632577" cy="28916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9D353"/>
                </a:solidFill>
              </a:rPr>
              <a:t>WORK DONE  ›  PAGE 5 &amp; PAGE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3891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5: Process InSAR   |   Step 6: Select Hotspots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70432"/>
            <a:ext cx="11521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8E9EB0"/>
                </a:solidFill>
              </a:rPr>
              <a:t>The most technically intensive stage — generating interferograms with SNAP — and then targeting the specific danger zones to monitor.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19072"/>
            <a:ext cx="5669280" cy="2907792"/>
          </a:xfrm>
          <a:prstGeom prst="rect">
            <a:avLst/>
          </a:prstGeom>
          <a:solidFill>
            <a:srgbClr val="060D17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3192" y="1792224"/>
            <a:ext cx="5522976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663440"/>
            <a:ext cx="56692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469087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PAGE 5  —  SNAP InSAR Processing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047488"/>
            <a:ext cx="5669280" cy="1627632"/>
          </a:xfrm>
          <a:prstGeom prst="rect">
            <a:avLst/>
          </a:prstGeom>
          <a:solidFill>
            <a:srgbClr val="131E35"/>
          </a:solidFill>
          <a:ln w="889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5093208"/>
            <a:ext cx="5486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 dirty="0">
                <a:solidFill>
                  <a:srgbClr val="F5A623"/>
                </a:solidFill>
              </a:rPr>
              <a:t>▸ What happens  </a:t>
            </a:r>
            <a:r>
              <a:rPr sz="1100" dirty="0">
                <a:solidFill>
                  <a:srgbClr val="FFFFFF"/>
                </a:solidFill>
              </a:rPr>
              <a:t>The app launches Python workers that run the ESA SNAP graph for each ASC and DSC interferometric pair (8 pairs total).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F5A623"/>
                </a:solidFill>
              </a:rPr>
              <a:t>▸ Live queue  </a:t>
            </a:r>
            <a:r>
              <a:rPr sz="1100" dirty="0">
                <a:solidFill>
                  <a:srgbClr val="FFFFFF"/>
                </a:solidFill>
              </a:rPr>
              <a:t>A </a:t>
            </a:r>
            <a:r>
              <a:rPr sz="1100" dirty="0" err="1">
                <a:solidFill>
                  <a:srgbClr val="FFFFFF"/>
                </a:solidFill>
              </a:rPr>
              <a:t>colour</a:t>
            </a:r>
            <a:r>
              <a:rPr sz="1100" dirty="0">
                <a:solidFill>
                  <a:srgbClr val="FFFFFF"/>
                </a:solidFill>
              </a:rPr>
              <a:t>-coded dashboard updates every 3 seconds: Pending (grey), Processing (amber spinner), Complete (green badge with elapsed time).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F5A623"/>
                </a:solidFill>
              </a:rPr>
              <a:t>▸ Smart pre-scan  </a:t>
            </a:r>
            <a:r>
              <a:rPr sz="1100" dirty="0">
                <a:solidFill>
                  <a:srgbClr val="FFFFFF"/>
                </a:solidFill>
              </a:rPr>
              <a:t>On restart, the app scans output folders and automatically skips any pair whose .dim file and .data directory already exist — no redundant compute.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F5A623"/>
                </a:solidFill>
              </a:rPr>
              <a:t>▸ Worker control  </a:t>
            </a:r>
            <a:r>
              <a:rPr sz="1100" dirty="0">
                <a:solidFill>
                  <a:srgbClr val="FFFFFF"/>
                </a:solidFill>
              </a:rPr>
              <a:t>A 'Start Processing' button begins the queue; a 'Stop Worker' button cancels at any time without corrupting completed outputs.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719072"/>
            <a:ext cx="5650992" cy="2907792"/>
          </a:xfrm>
          <a:prstGeom prst="rect">
            <a:avLst/>
          </a:prstGeom>
          <a:solidFill>
            <a:srgbClr val="060D17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792224"/>
            <a:ext cx="5504688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6208" y="4663440"/>
            <a:ext cx="5650992" cy="34747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469087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PAGE 6  —  Interactive Hotspot Targeting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5047488"/>
            <a:ext cx="5650992" cy="1627632"/>
          </a:xfrm>
          <a:prstGeom prst="rect">
            <a:avLst/>
          </a:prstGeom>
          <a:solidFill>
            <a:srgbClr val="131E35"/>
          </a:solidFill>
          <a:ln w="889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5093208"/>
            <a:ext cx="5486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00B4FF"/>
                </a:solidFill>
              </a:rPr>
              <a:t>▸ What the user does  </a:t>
            </a:r>
            <a:r>
              <a:rPr sz="1100">
                <a:solidFill>
                  <a:srgbClr val="FFFFFF"/>
                </a:solidFill>
              </a:rPr>
              <a:t>Clicks directly on the satellite map to place numbered monitoring markers (P1–P10) over specific high-risk zones such as pit walls.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0B4FF"/>
                </a:solidFill>
              </a:rPr>
              <a:t>▸ Boundary guard  </a:t>
            </a:r>
            <a:r>
              <a:rPr sz="1100">
                <a:solidFill>
                  <a:srgbClr val="FFFFFF"/>
                </a:solidFill>
              </a:rPr>
              <a:t>The app prevents markers from being placed outside the ROI defined in Page 2 — a yellow warning appears if the user clicks outside.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0B4FF"/>
                </a:solidFill>
              </a:rPr>
              <a:t>▸ Precision  </a:t>
            </a:r>
            <a:r>
              <a:rPr sz="1100">
                <a:solidFill>
                  <a:srgbClr val="FFFFFF"/>
                </a:solidFill>
              </a:rPr>
              <a:t>Each marker's exact GPS latitude and longitude is captured and displayed next to its label for field-team cross-reference.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0B4FF"/>
                </a:solidFill>
              </a:rPr>
              <a:t>▸ Handoff  </a:t>
            </a:r>
            <a:r>
              <a:rPr sz="1100">
                <a:solidFill>
                  <a:srgbClr val="FFFFFF"/>
                </a:solidFill>
              </a:rPr>
              <a:t>Saved hotspot coordinates are passed directly to the Python analysis engine for pixel-level time-series extraction from the interferograms.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11 / 13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5426FFD-6883-7E39-1FB1-C36631C22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719073"/>
            <a:ext cx="5669280" cy="290779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EBC40C2-84E3-6090-5CEB-FCBD26CBE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723099"/>
            <a:ext cx="5650992" cy="28933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4C5E"/>
                </a:solidFill>
              </a:rPr>
              <a:t>WORK DONE  ›  PAGE 7 &amp; PAGE 8  (RESULTS)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3891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7: Analyse Results   |   Step 8: Automated Risk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70432"/>
            <a:ext cx="11521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8E9EB0"/>
                </a:solidFill>
              </a:rPr>
              <a:t>The final two pages transform raw InSAR numbers into three scientific charts and a complete geotechnical safety verdict.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19072"/>
            <a:ext cx="5669280" cy="2907792"/>
          </a:xfrm>
          <a:prstGeom prst="rect">
            <a:avLst/>
          </a:prstGeom>
          <a:solidFill>
            <a:srgbClr val="060D17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3192" y="1792224"/>
            <a:ext cx="5522976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663440"/>
            <a:ext cx="56692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469087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PAGE 7  —  Advanced Displacement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047488"/>
            <a:ext cx="5669280" cy="1627632"/>
          </a:xfrm>
          <a:prstGeom prst="rect">
            <a:avLst/>
          </a:prstGeom>
          <a:solidFill>
            <a:srgbClr val="131E35"/>
          </a:solidFill>
          <a:ln w="889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5093208"/>
            <a:ext cx="5486400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 dirty="0">
                <a:solidFill>
                  <a:srgbClr val="F5A623"/>
                </a:solidFill>
              </a:rPr>
              <a:t>▸ Chart 1 — E/W Displacement  </a:t>
            </a:r>
            <a:r>
              <a:rPr sz="1100" dirty="0">
                <a:solidFill>
                  <a:srgbClr val="FFFFFF"/>
                </a:solidFill>
              </a:rPr>
              <a:t>Cumulative East–West displacement time-series for all hotspots. Positive = Eastward; Negative = Westward sliding. </a:t>
            </a:r>
            <a:br>
              <a:rPr lang="en-IN" sz="1100" dirty="0">
                <a:solidFill>
                  <a:srgbClr val="FFFFFF"/>
                </a:solidFill>
              </a:rPr>
            </a:br>
            <a:r>
              <a:rPr sz="1100" b="1" dirty="0">
                <a:solidFill>
                  <a:srgbClr val="F5A623"/>
                </a:solidFill>
              </a:rPr>
              <a:t>▸ Chart </a:t>
            </a:r>
            <a:r>
              <a:rPr lang="en-IN" sz="1100" b="1" dirty="0">
                <a:solidFill>
                  <a:srgbClr val="F5A623"/>
                </a:solidFill>
              </a:rPr>
              <a:t>2</a:t>
            </a:r>
            <a:r>
              <a:rPr sz="1100" b="1" dirty="0">
                <a:solidFill>
                  <a:srgbClr val="F5A623"/>
                </a:solidFill>
              </a:rPr>
              <a:t> — 3D Trajectory  </a:t>
            </a:r>
            <a:r>
              <a:rPr sz="1100" dirty="0">
                <a:solidFill>
                  <a:srgbClr val="FFFFFF"/>
                </a:solidFill>
              </a:rPr>
              <a:t>Dark-background 3D scatter plot: X = E/W, Y = Vertical, Z = Time. Each hotspot traces its full unique deformation path in space.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F5A623"/>
                </a:solidFill>
              </a:rPr>
              <a:t>▸ Plain-English Captions  </a:t>
            </a:r>
            <a:r>
              <a:rPr sz="1100" dirty="0">
                <a:solidFill>
                  <a:srgbClr val="FFFFFF"/>
                </a:solidFill>
              </a:rPr>
              <a:t>Below every chart, an auto-generated sentence explains the key finding in non-technical language for site managers.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719072"/>
            <a:ext cx="5650992" cy="2907792"/>
          </a:xfrm>
          <a:prstGeom prst="rect">
            <a:avLst/>
          </a:prstGeom>
          <a:solidFill>
            <a:srgbClr val="060D17"/>
          </a:solidFill>
          <a:ln w="19050">
            <a:solidFill>
              <a:srgbClr val="FF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792224"/>
            <a:ext cx="5504688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6208" y="4663440"/>
            <a:ext cx="5650992" cy="347472"/>
          </a:xfrm>
          <a:prstGeom prst="rect">
            <a:avLst/>
          </a:prstGeom>
          <a:solidFill>
            <a:srgbClr val="FF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469087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PAGE 8  —  Automated Geotechnical Risk Assessment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5047488"/>
            <a:ext cx="5650992" cy="1627632"/>
          </a:xfrm>
          <a:prstGeom prst="rect">
            <a:avLst/>
          </a:prstGeom>
          <a:solidFill>
            <a:srgbClr val="131E35"/>
          </a:solidFill>
          <a:ln w="8890">
            <a:solidFill>
              <a:srgbClr val="FF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5093208"/>
            <a:ext cx="5486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FF4C5E"/>
                </a:solidFill>
              </a:rPr>
              <a:t>▸ Risk Classification  </a:t>
            </a:r>
            <a:r>
              <a:rPr sz="1100">
                <a:solidFill>
                  <a:srgbClr val="FFFFFF"/>
                </a:solidFill>
              </a:rPr>
              <a:t>Calculates cumulative displacement per hotspot and assigns: LOW (&lt;30 mm) / MEDIUM (&lt;80 mm) / HIGH (&lt;150 mm) / CRITICAL (&gt;150 mm).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4C5E"/>
                </a:solidFill>
              </a:rPr>
              <a:t>▸ Executive Summary  </a:t>
            </a:r>
            <a:r>
              <a:rPr sz="1100">
                <a:solidFill>
                  <a:srgbClr val="FFFFFF"/>
                </a:solidFill>
              </a:rPr>
              <a:t>Auto-generates a site-wide natural-language paragraph describing the overall deformation pattern and dominant failure direction.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4C5E"/>
                </a:solidFill>
              </a:rPr>
              <a:t>▸ Hotspot Risk Table  </a:t>
            </a:r>
            <a:r>
              <a:rPr sz="1100">
                <a:solidFill>
                  <a:srgbClr val="FFFFFF"/>
                </a:solidFill>
              </a:rPr>
              <a:t>Colour-coded table (green → red) listing each hotspot's peak displacement, trend direction, and individual risk verdict.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FF4C5E"/>
                </a:solidFill>
              </a:rPr>
              <a:t>▸ Engineering Actions  </a:t>
            </a:r>
            <a:r>
              <a:rPr sz="1100">
                <a:solidFill>
                  <a:srgbClr val="FFFFFF"/>
                </a:solidFill>
              </a:rPr>
              <a:t>Produces a ranked list of recommended actions (e.g., 'Install inclinometers at P2') scaled automatically to the detected severity level.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12 / 13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62C6FA4-1F90-9369-6907-99C23AC6A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57" y="1719073"/>
            <a:ext cx="5669280" cy="290779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4D08808-4F32-E9AF-412D-720B1C9B7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9" y="1719073"/>
            <a:ext cx="5632576" cy="28935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MineGuard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44637"/>
            <a:ext cx="3291840" cy="749808"/>
          </a:xfrm>
          <a:prstGeom prst="rect">
            <a:avLst/>
          </a:prstGeom>
          <a:solidFill>
            <a:srgbClr val="131E35"/>
          </a:solidFill>
          <a:ln w="1524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90941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39D353"/>
                </a:solidFill>
              </a:rPr>
              <a:t>Affordable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44637"/>
            <a:ext cx="3291840" cy="749808"/>
          </a:xfrm>
          <a:prstGeom prst="rect">
            <a:avLst/>
          </a:prstGeom>
          <a:solidFill>
            <a:srgbClr val="131E35"/>
          </a:solidFill>
          <a:ln w="1524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59" y="1490941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 dirty="0">
                <a:solidFill>
                  <a:srgbClr val="00B4FF"/>
                </a:solidFill>
              </a:rPr>
              <a:t>Automated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344637"/>
            <a:ext cx="3291840" cy="749808"/>
          </a:xfrm>
          <a:prstGeom prst="rect">
            <a:avLst/>
          </a:prstGeom>
          <a:solidFill>
            <a:srgbClr val="131E35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490941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5A623"/>
                </a:solidFill>
              </a:rPr>
              <a:t>Accurate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768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 dirty="0">
                <a:solidFill>
                  <a:srgbClr val="8E9EB0"/>
                </a:solidFill>
              </a:rPr>
              <a:t>Any mine. Any continent. No satellite expertise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714947"/>
            <a:ext cx="7616952" cy="457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820455"/>
            <a:ext cx="11183112" cy="621792"/>
          </a:xfrm>
          <a:prstGeom prst="rect">
            <a:avLst/>
          </a:prstGeom>
          <a:solidFill>
            <a:srgbClr val="131E35"/>
          </a:solidFill>
          <a:ln w="1016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820455"/>
            <a:ext cx="164592" cy="62179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911895"/>
            <a:ext cx="32004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>
                <a:solidFill>
                  <a:srgbClr val="00B4FF"/>
                </a:solidFill>
              </a:rPr>
              <a:t>InSAR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930183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</a:rPr>
              <a:t>Fully automated SNAP interferometric processing for ASC &amp; DSC Sentinel-1 pairs.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70263"/>
            <a:ext cx="11183112" cy="621792"/>
          </a:xfrm>
          <a:prstGeom prst="rect">
            <a:avLst/>
          </a:prstGeom>
          <a:solidFill>
            <a:srgbClr val="131E35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570263"/>
            <a:ext cx="164592" cy="6217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661703"/>
            <a:ext cx="32004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>
                <a:solidFill>
                  <a:srgbClr val="F5A623"/>
                </a:solidFill>
              </a:rPr>
              <a:t>2D Decomposition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679991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True East–West and Vertical displacement separated by solving a 2×2 linear system.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20071"/>
            <a:ext cx="11183112" cy="621792"/>
          </a:xfrm>
          <a:prstGeom prst="rect">
            <a:avLst/>
          </a:prstGeom>
          <a:solidFill>
            <a:srgbClr val="131E35"/>
          </a:solidFill>
          <a:ln w="1016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4320071"/>
            <a:ext cx="164592" cy="62179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411511"/>
            <a:ext cx="32004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>
                <a:solidFill>
                  <a:srgbClr val="39D353"/>
                </a:solidFill>
              </a:rPr>
              <a:t>8-Page Web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429799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React TypeScript frontend + Python FastAPI backend; runs entirely in a browser.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069879"/>
            <a:ext cx="11183112" cy="621792"/>
          </a:xfrm>
          <a:prstGeom prst="rect">
            <a:avLst/>
          </a:prstGeom>
          <a:solidFill>
            <a:srgbClr val="131E35"/>
          </a:solidFill>
          <a:ln w="10160">
            <a:solidFill>
              <a:srgbClr val="FF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5069879"/>
            <a:ext cx="164592" cy="621792"/>
          </a:xfrm>
          <a:prstGeom prst="rect">
            <a:avLst/>
          </a:prstGeom>
          <a:solidFill>
            <a:srgbClr val="FF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5161319"/>
            <a:ext cx="32004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>
                <a:solidFill>
                  <a:srgbClr val="FF4C5E"/>
                </a:solidFill>
              </a:rPr>
              <a:t> Auto Risk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5179607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Threshold-based geotechnical risk classification with engineering action recommendations.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5852160"/>
            <a:ext cx="8531352" cy="54864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28800" y="5888736"/>
            <a:ext cx="8531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 dirty="0">
                <a:solidFill>
                  <a:srgbClr val="FFFFFF"/>
                </a:solidFill>
              </a:rPr>
              <a:t>Thank You  —  Questions &amp; Discussion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601968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8E9EB0"/>
                </a:solidFill>
              </a:rPr>
              <a:t>Ujjwal Rawat  •  225EC6010  •  ECE Department  •  NIT Rourkela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E9EB0"/>
                </a:solidFill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2993</Words>
  <Application>Microsoft Office PowerPoint</Application>
  <PresentationFormat>Custom</PresentationFormat>
  <Paragraphs>237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Ujjwal Rawat</cp:lastModifiedBy>
  <cp:revision>7</cp:revision>
  <dcterms:created xsi:type="dcterms:W3CDTF">2013-01-27T09:14:16Z</dcterms:created>
  <dcterms:modified xsi:type="dcterms:W3CDTF">2026-04-07T09:09:24Z</dcterms:modified>
  <cp:category/>
</cp:coreProperties>
</file>